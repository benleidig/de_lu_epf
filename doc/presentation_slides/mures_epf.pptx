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68" r:id="rId2"/>
    <p:sldId id="369" r:id="rId3"/>
    <p:sldId id="379" r:id="rId4"/>
    <p:sldId id="377" r:id="rId5"/>
    <p:sldId id="405" r:id="rId6"/>
    <p:sldId id="409" r:id="rId7"/>
    <p:sldId id="415" r:id="rId8"/>
    <p:sldId id="355" r:id="rId9"/>
    <p:sldId id="412" r:id="rId10"/>
    <p:sldId id="406" r:id="rId11"/>
    <p:sldId id="407" r:id="rId12"/>
    <p:sldId id="386" r:id="rId13"/>
    <p:sldId id="393" r:id="rId14"/>
    <p:sldId id="401" r:id="rId15"/>
    <p:sldId id="394" r:id="rId16"/>
    <p:sldId id="385" r:id="rId17"/>
    <p:sldId id="389" r:id="rId18"/>
    <p:sldId id="402" r:id="rId19"/>
    <p:sldId id="404" r:id="rId20"/>
    <p:sldId id="381" r:id="rId21"/>
    <p:sldId id="395" r:id="rId22"/>
    <p:sldId id="396" r:id="rId23"/>
    <p:sldId id="411" r:id="rId24"/>
    <p:sldId id="397" r:id="rId25"/>
    <p:sldId id="410" r:id="rId26"/>
    <p:sldId id="408" r:id="rId27"/>
    <p:sldId id="398" r:id="rId28"/>
    <p:sldId id="399" r:id="rId29"/>
    <p:sldId id="400" r:id="rId30"/>
    <p:sldId id="416" r:id="rId31"/>
    <p:sldId id="414" r:id="rId32"/>
    <p:sldId id="375" r:id="rId33"/>
    <p:sldId id="37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1B7FA39-D25E-1447-8876-0AEF72E7E98B}">
          <p14:sldIdLst>
            <p14:sldId id="368"/>
            <p14:sldId id="369"/>
            <p14:sldId id="379"/>
            <p14:sldId id="377"/>
            <p14:sldId id="405"/>
            <p14:sldId id="409"/>
            <p14:sldId id="415"/>
            <p14:sldId id="355"/>
            <p14:sldId id="412"/>
            <p14:sldId id="406"/>
            <p14:sldId id="407"/>
            <p14:sldId id="386"/>
            <p14:sldId id="393"/>
            <p14:sldId id="401"/>
            <p14:sldId id="394"/>
            <p14:sldId id="385"/>
            <p14:sldId id="389"/>
            <p14:sldId id="402"/>
            <p14:sldId id="404"/>
            <p14:sldId id="381"/>
            <p14:sldId id="395"/>
            <p14:sldId id="396"/>
            <p14:sldId id="411"/>
            <p14:sldId id="397"/>
            <p14:sldId id="410"/>
            <p14:sldId id="408"/>
            <p14:sldId id="398"/>
            <p14:sldId id="399"/>
            <p14:sldId id="400"/>
            <p14:sldId id="416"/>
            <p14:sldId id="414"/>
            <p14:sldId id="375"/>
            <p14:sldId id="3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D92367-D572-2E9D-2876-ADE26AF5EC8B}" name="Kim, Jaehyung" initials="KJ" userId="S::jk38@illinois.edu::4a3aa005-5a6f-4f1f-9bca-b803cc7c49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24D"/>
    <a:srgbClr val="FF5F05"/>
    <a:srgbClr val="13294B"/>
    <a:srgbClr val="C84113"/>
    <a:srgbClr val="3B6C35"/>
    <a:srgbClr val="4B868E"/>
    <a:srgbClr val="F05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6BEE4-8CC8-B831-8193-CACE82417260}" v="12" dt="2025-12-10T05:34:13.518"/>
    <p1510:client id="{454A2982-070D-E4A5-5B7B-8D57A7AD59DA}" v="2" dt="2025-12-10T07:08:26.766"/>
    <p1510:client id="{D7FC077C-42CD-A84C-A2C0-610752C09250}" v="11561" dt="2025-12-09T18:51:54.0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6"/>
    <p:restoredTop sz="94695"/>
  </p:normalViewPr>
  <p:slideViewPr>
    <p:cSldViewPr snapToGrid="0">
      <p:cViewPr varScale="1">
        <p:scale>
          <a:sx n="206" d="100"/>
          <a:sy n="206" d="100"/>
        </p:scale>
        <p:origin x="124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E1E9AA-346A-B3D9-794E-D00029D39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56AFA-A4B7-7466-6AF7-3B946230D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678F-55F8-4A98-B438-1921114C3F78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E0AD-401D-551F-84BA-B7639FBB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8A03-EC06-4230-C305-6B2387392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4B95-DB27-469E-87AB-81525EE3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260D9-9A89-466D-AB9E-AB8EEEC5B27F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6F0D5-1438-4C96-931F-854E0BFC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B972-99CD-5C6F-1CEE-A7E5705B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2A35F-48D4-565A-4BA6-4342B03CB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ABC4D-16FB-8593-0F51-5C08ED83E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6837C-D914-E67F-17A6-E587915DA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33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31FEA-DCB1-937E-16B2-EBEC1BEA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F86C8-30EA-F67A-D2C0-B28E4DE00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69CDD-CF92-58F6-615F-DC0BF0D91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492C6-2D91-0A8A-B298-71339D39D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49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384C-5054-AF4A-5C60-EB0283461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246CB-B2F1-9B82-C16A-0851873A8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B4BAD-68D6-A4BD-50B2-A21026159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6FE2A-EFCF-7C4C-9FC9-6EA8FA44C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56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7BE1-9223-6769-FA2F-CB8418DA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96BBC-6F2B-80D4-64AA-60C063556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49FB8-E5AF-241A-A8BB-8FD09F890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4997-928B-AAEE-D4AD-69884F48E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72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78EA4-C083-EACF-B5E1-C578B17E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A0CAA-95F1-969C-97A6-C0CA91173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7ABF1-2163-B2FB-DFEA-0E815C9F0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69426-14DB-A290-8985-DAD440BEE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1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36F8-BF03-5EC8-7FE9-FD90BD61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7F186-1289-36EB-BA37-BC50DBAE3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FC30C-AEE6-7839-21C8-F5020DD74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6DA44-6C19-FC40-3278-8C6AEE0FB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83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F089B-23E8-3C21-2D17-E55DA452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46B77-F10A-A6AD-9039-3AF31CA6B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77F9A-984F-0C52-981F-D9B2BCB51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B7C1A-4120-40B6-34F9-2A0F46433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19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43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A46D-CD29-D2AD-2101-B91C9D28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B85D2-C030-C460-7698-A092746A7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8B26C-034F-7096-DBEF-2D37D4E2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09DA2-8D78-D442-A4CD-859D524C1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67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552C-1591-E617-9E5F-65ACE63D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EB6FB-BE84-C890-E7ED-B17FE5083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21A90-D731-4EA2-4447-0995DC463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0623B-3E5D-7870-7457-05E36FEFE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79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1563-262E-72DE-B735-1772039B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C4D69-D495-C94A-2BF7-9605AD2BA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69718-75D7-08B8-5A72-DAFB290ED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1F375-C451-E747-4501-6E1F1C7DE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6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E1EFB-B2F8-16AD-E6EB-CC9AC5F2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3D04A-8BB9-3DF8-2C22-E3B19A99C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F0182-FB7E-3847-DD0B-E03D5D781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0424D-D493-4283-4E3A-54C99E615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01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39BB5-1919-2CF5-0603-38D3B7975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D905C-8DC3-D8EE-B11C-CABB7D174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B2A03-8497-A20A-2EA6-EC58956BB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CF5A5-FB30-838B-464E-B111D427E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49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18C2F-1BD0-AE14-DEDA-D4EC5943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78EF3-6B72-907F-71D1-65531692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435B1-B794-EAC1-5566-BED6CE36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06615-BA0F-49C2-D932-468E8392D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32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0373A-307A-CC95-67F4-03E96091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7F2FB-F667-2401-D363-32EBBB9B4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83A68-4D7D-A9EB-7229-8CECA518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AE276-8936-ED29-7A4B-AB9BBED09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31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301A9-EE2E-905F-EDD3-38FDE7DA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DE92B-B948-AAC6-0592-CFDA0C0A6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44FE9-8A86-FD4C-2EDC-AB53C7BEB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A65E1-D970-2636-AE1E-72DC4BDF0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01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77031-980D-23E4-8A83-66517DCE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9443F-EC4D-3C91-E477-BF11CD5C8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CC7D2-C893-C337-C440-6D819DAA9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Note from Prof: don’t go too in-depth into model explanations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3B139-BF6C-29C7-8DCE-B1C60CC20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91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5C2B-F103-A99A-1017-DC784C24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6F450-598C-4E91-4822-AC39DFC43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4553D-C8B0-7B2D-196E-0381B9745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C962B-DFE2-6B8B-4222-EBF7A3BB9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5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B2CF-0228-66A1-9759-A04F6D71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7A7F2-96AD-E0C7-3961-87409A024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A253-8C19-834A-9FD6-EF5C52AE5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35937-6CAB-ADDC-B6BB-7BA34CC9A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1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CDEF-7481-D23D-74DA-0E9E460C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1DF80-1AC2-D2A4-4C39-D67CBEE25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0B189-1087-7745-EE58-290CDB591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6C11E-5D66-CA4A-D7F3-98C598C87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93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E002-97E4-995B-016E-67B6FE5B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736D0-A0CF-0D40-6F08-5A3AABFEF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2968F-66E1-C70B-6B05-EFD114519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AD957-A73E-AD58-5680-FD49FF4E7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95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0CC4-8010-7F25-080F-69693F6C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2AF54-5504-764B-91BB-E0C14CC57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1D462-B041-0636-1BA5-3CA7FC04F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F94B2-BE16-D222-EC1D-1C6EC563E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60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AEC2-346E-24B1-9F60-67514E4D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152D4-6FEF-6C10-9093-4E980B49A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EC460-AA5B-8920-FECD-DEA101F2C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94A74-3D34-EB23-0DC8-E86B6ED5D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710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C950-6C82-9BD0-6BE7-098A35A7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9E6D8-ED3C-4060-1A8C-C5E4D1549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86DB4-3FDD-C965-E859-B03DEDF0E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from Prof: try to reduce text on this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1F761-42A0-6675-80E7-A7E92E131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955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DB87-CB90-4FCD-8768-DE619DB0B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05461-1154-D659-CD2D-F79226C93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B2894-B96A-20DC-5E1D-10FFC414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DE482-9812-B4A3-ECDE-2586D0853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66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36AA-F8AB-58E7-2FDC-5CA79901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56C58-B0FF-6846-B6EB-8946157EE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48BBA-0334-7C5B-1EF6-14F4D559A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65920-E602-2127-8104-FD6329510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918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48FB7-1C72-0363-BB58-A0645589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0051F-5AE1-EEB1-4509-FE6752803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F2F7C-7C4F-68E2-EE41-546F570BE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873C3-9927-2CD1-5862-255B572E1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71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AE53-99FC-6289-A409-5C70D9B3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F559D-15DE-1D54-65E5-5B66787B9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0ECE0-0AD2-1869-160D-9950CD78F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54A4C-1A0C-5219-79C8-71A0C61DA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60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CB6E-A827-0828-C3C7-6008B82F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9FBB0-815F-8F3F-394E-ECCCD6071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4CE30-79D7-7E55-8726-3083E5945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66C02-DDAF-8195-7973-C70803D8D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32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2984D-799D-C14A-1184-70E0C1D4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13FB5-0F77-9EF4-9D07-9927574EF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5330F-1C05-D9B7-F0A3-9C6F063BE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93D56-10A5-F350-93B5-159CC597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966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ABB0C-6DA8-D97C-84B8-B4D5E0BE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E2B2A-2AF4-F613-C48A-3E443ECEC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7B20DB-CB13-48AD-46A4-D894771B9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9C5EE-E9C9-73A9-9646-6160C6F21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59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DE9B-6D28-964B-BF42-95D63275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AFA01-56D1-EDCC-BDE6-FE13A7A68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A0C4C-5505-FE24-632F-56B84A170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07C5-A04F-83C0-3E71-9F56BAA04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793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CFA9-B24B-A0F5-33C5-F703353B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89202-BD2C-AF55-0ED3-984116B5A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FEBF3-AFDE-D11D-3D89-9B8041E5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23A3-CA47-730D-22EB-95E6CF540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2F4F2-6BCB-E2A6-BF14-55C777A8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Accent">
            <a:extLst>
              <a:ext uri="{FF2B5EF4-FFF2-40B4-BE49-F238E27FC236}">
                <a16:creationId xmlns:a16="http://schemas.microsoft.com/office/drawing/2014/main" id="{A4CD8BB7-0ED5-85FC-E344-1C112A4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6C5F9852-BDFC-7251-F9A8-98DEA1026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497620D0-FD2F-C1C0-438F-BA156FAA85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D3A57C1C-6F1A-1705-E0D4-BE50DA8625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00193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36CFC5-9FDA-B7CC-A0E8-9E2C8CF5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774D0FFC-1870-3AC0-2920-9F9EA3F5B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967BB4B5-6DC9-4239-4EE4-8B3B8C06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Department/unit name placeholder">
            <a:extLst>
              <a:ext uri="{FF2B5EF4-FFF2-40B4-BE49-F238E27FC236}">
                <a16:creationId xmlns:a16="http://schemas.microsoft.com/office/drawing/2014/main" id="{9CCA8B6C-53BF-DD2E-3863-4C111973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609F09B9-AFB9-1195-67C0-6A06E8B361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753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C2C3DC9-CBAF-E0AA-9E07-BE81DC63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F622F3C3-0B66-1EFA-7644-C9486EB6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7BC0581F-68FE-3796-A22D-5418171CE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3E44D2A3-C965-C633-19E4-D7543644A7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11F428D-6D39-7B6D-AFE8-65D4134A99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881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4A6F8600-C465-A237-F197-C96A708B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D8D43620-9928-A654-AC46-BED2B13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68582E55-19DE-D3A6-A102-BEE797FEF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epartment/Name Placeholder">
            <a:extLst>
              <a:ext uri="{FF2B5EF4-FFF2-40B4-BE49-F238E27FC236}">
                <a16:creationId xmlns:a16="http://schemas.microsoft.com/office/drawing/2014/main" id="{87E33E8E-94EC-D6F0-814A-4EDAFDEC86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3FE06C4-A829-23E6-0677-AB297591F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25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7055D02D-3326-7573-A3C0-A19814E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</p:spPr>
      </p:pic>
      <p:pic>
        <p:nvPicPr>
          <p:cNvPr id="15" name="Block I">
            <a:extLst>
              <a:ext uri="{FF2B5EF4-FFF2-40B4-BE49-F238E27FC236}">
                <a16:creationId xmlns:a16="http://schemas.microsoft.com/office/drawing/2014/main" id="{193783E6-EE13-4530-A988-B4868B496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BBEA2DE4-2385-495C-A616-BF4D8C4A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4A50B919-1C53-82C7-0ADF-4D7B606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E14BE4D4-A7FC-9557-3271-D4088C04E7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epartment/unit name Placeholder">
            <a:extLst>
              <a:ext uri="{FF2B5EF4-FFF2-40B4-BE49-F238E27FC236}">
                <a16:creationId xmlns:a16="http://schemas.microsoft.com/office/drawing/2014/main" id="{5CA5320C-70CA-7F64-3D32-B994D01BD6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2D0D6A88-2FF4-ED2F-DB76-9BB2C9C0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493BA29-88DB-9209-4439-6C9327AE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72E36FC3-13D9-5B7F-F024-ECE203EC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7" name="Title Accent">
            <a:extLst>
              <a:ext uri="{FF2B5EF4-FFF2-40B4-BE49-F238E27FC236}">
                <a16:creationId xmlns:a16="http://schemas.microsoft.com/office/drawing/2014/main" id="{70DB334B-58BA-FA46-760E-299BA028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022AEE9-9854-64A4-8425-2C701E7B8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06092AA5-D5FE-2CF4-EDF1-CED258F3F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1A96EBAC-4595-0697-28AB-2D8283139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004C974-18EE-90F8-50C2-6B74362B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4E2EB510-CA6D-090B-7475-EB8A202E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68FCE613-86B1-45E6-BB32-58EB7FA4B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accent">
            <a:extLst>
              <a:ext uri="{FF2B5EF4-FFF2-40B4-BE49-F238E27FC236}">
                <a16:creationId xmlns:a16="http://schemas.microsoft.com/office/drawing/2014/main" id="{9D88B7D3-8E4C-8BC3-801C-DEA164218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B230F21-1FBA-D776-0144-95076DA26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1BA84641-52D3-F667-A202-043557B0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734D93D2-3734-2540-A03F-C47C6DD21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5E21822-BD18-9D54-B62B-8E5D54BC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F9A8B31-E9F1-E958-5770-0E4DC6EC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372EC9F4-B30C-7841-50F3-CAE581C4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6" name="Title Accent">
            <a:extLst>
              <a:ext uri="{FF2B5EF4-FFF2-40B4-BE49-F238E27FC236}">
                <a16:creationId xmlns:a16="http://schemas.microsoft.com/office/drawing/2014/main" id="{7F62A38B-0BBB-7A39-BE3D-4B696AE8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8C38F5E-9BC0-719F-02FF-D9B0010B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3DA8837-8538-EC91-4522-8F7D0204BE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C3874A56-F068-73F4-0F8E-2728FC25B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D4F4EDB-DDC3-8969-B1D8-C97542C1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2C5E3-2C50-D5D2-E1FB-085CFA8C0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B6F3FFB3-15FF-5FEF-255A-ED6AEE9D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5" name="Title underscore">
            <a:extLst>
              <a:ext uri="{FF2B5EF4-FFF2-40B4-BE49-F238E27FC236}">
                <a16:creationId xmlns:a16="http://schemas.microsoft.com/office/drawing/2014/main" id="{73C213B8-2261-4AAB-8CED-8BDC7849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7E785B2-7E34-E0D4-0458-2031C0247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4" name="Department/Unit name Placeholder">
            <a:extLst>
              <a:ext uri="{FF2B5EF4-FFF2-40B4-BE49-F238E27FC236}">
                <a16:creationId xmlns:a16="http://schemas.microsoft.com/office/drawing/2014/main" id="{43F3769A-076E-8C78-317D-5BCB57976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76D1151-1586-A4CD-17CD-700A8EC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30D879-E427-F595-A720-AD68F45BE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1" name="Block I">
            <a:extLst>
              <a:ext uri="{FF2B5EF4-FFF2-40B4-BE49-F238E27FC236}">
                <a16:creationId xmlns:a16="http://schemas.microsoft.com/office/drawing/2014/main" id="{03433787-1CFF-45E7-AF8C-BD6DE67D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10" name="Title underscore">
            <a:extLst>
              <a:ext uri="{FF2B5EF4-FFF2-40B4-BE49-F238E27FC236}">
                <a16:creationId xmlns:a16="http://schemas.microsoft.com/office/drawing/2014/main" id="{9AB7A58C-6DBD-4739-B4B2-CF600754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E358E9E-D14A-D868-718C-3F41147F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5A4D42FD-F2CE-B461-42FC-B7365425E0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C86609E-3488-AC7D-5BCD-1999D3D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Accent">
            <a:extLst>
              <a:ext uri="{FF2B5EF4-FFF2-40B4-BE49-F238E27FC236}">
                <a16:creationId xmlns:a16="http://schemas.microsoft.com/office/drawing/2014/main" id="{D0364173-A96F-9FE3-06E5-5B39DC86E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lock I">
            <a:extLst>
              <a:ext uri="{FF2B5EF4-FFF2-40B4-BE49-F238E27FC236}">
                <a16:creationId xmlns:a16="http://schemas.microsoft.com/office/drawing/2014/main" id="{476E0D61-C12B-4A74-FA1D-11D7952A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Footer background">
            <a:extLst>
              <a:ext uri="{FF2B5EF4-FFF2-40B4-BE49-F238E27FC236}">
                <a16:creationId xmlns:a16="http://schemas.microsoft.com/office/drawing/2014/main" id="{0D56C456-94C5-4B92-7452-76C649BE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2F5268-A885-7E39-998A-D50E2D26F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48C7DE-94AB-9076-4335-F5D9A305B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795749"/>
            <a:ext cx="10370190" cy="4120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epartment/Unit name Placeholder">
            <a:extLst>
              <a:ext uri="{FF2B5EF4-FFF2-40B4-BE49-F238E27FC236}">
                <a16:creationId xmlns:a16="http://schemas.microsoft.com/office/drawing/2014/main" id="{B033ED9C-0B52-487F-8BD5-11759DAF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8AAFB27-B643-3132-E0CD-89C471BF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5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0743D9-A6A8-DB12-6B2E-147C03806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688805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3957788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9071244-DD24-D83B-A3BC-DF4D85E087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2463" y="4733057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04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00EE44-1662-6C19-8EEE-4473520A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C33744-A502-FBC7-B1D3-73DF0C333B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9" name="Subhead Placeholder - left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head Placeholder - right">
            <a:extLst>
              <a:ext uri="{FF2B5EF4-FFF2-40B4-BE49-F238E27FC236}">
                <a16:creationId xmlns:a16="http://schemas.microsoft.com/office/drawing/2014/main" id="{224424D1-87E7-3962-19AA-DA17D1EABB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629D8EC-3306-885D-34FB-A593175BD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46237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partment/Unit name Placeholder">
            <a:extLst>
              <a:ext uri="{FF2B5EF4-FFF2-40B4-BE49-F238E27FC236}">
                <a16:creationId xmlns:a16="http://schemas.microsoft.com/office/drawing/2014/main" id="{78C65027-A687-41F0-E627-6C9CA6C8D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54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accent">
            <a:extLst>
              <a:ext uri="{FF2B5EF4-FFF2-40B4-BE49-F238E27FC236}">
                <a16:creationId xmlns:a16="http://schemas.microsoft.com/office/drawing/2014/main" id="{115AD324-E2E1-9400-B6BC-49D0C5F6A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1844C4-2CEE-3AA9-FDAD-BAF322CB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25" name="Subhead Placeholder - left">
            <a:extLst>
              <a:ext uri="{FF2B5EF4-FFF2-40B4-BE49-F238E27FC236}">
                <a16:creationId xmlns:a16="http://schemas.microsoft.com/office/drawing/2014/main" id="{4F21266B-E068-C84F-857F-629382CE9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8" name="Text Placeholder - left">
            <a:extLst>
              <a:ext uri="{FF2B5EF4-FFF2-40B4-BE49-F238E27FC236}">
                <a16:creationId xmlns:a16="http://schemas.microsoft.com/office/drawing/2014/main" id="{E378921D-C904-2C44-DAD3-10FCD05155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081" y="2774950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Subhead Placeholder - right">
            <a:extLst>
              <a:ext uri="{FF2B5EF4-FFF2-40B4-BE49-F238E27FC236}">
                <a16:creationId xmlns:a16="http://schemas.microsoft.com/office/drawing/2014/main" id="{EEBD4F98-6476-56B5-5D6A-FDFCA46BF7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0" name="Text Placeholder -right">
            <a:extLst>
              <a:ext uri="{FF2B5EF4-FFF2-40B4-BE49-F238E27FC236}">
                <a16:creationId xmlns:a16="http://schemas.microsoft.com/office/drawing/2014/main" id="{E6AC3C03-BBBE-A121-29AB-D885327950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4855" y="2774797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partment/unit name Placeholder">
            <a:extLst>
              <a:ext uri="{FF2B5EF4-FFF2-40B4-BE49-F238E27FC236}">
                <a16:creationId xmlns:a16="http://schemas.microsoft.com/office/drawing/2014/main" id="{447F6171-D545-B452-563D-EFB2AE966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0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BB2015-0086-DF08-8A25-8A0616C8B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1180" y="1291652"/>
            <a:ext cx="6189488" cy="807792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Large Quote</a:t>
            </a:r>
          </a:p>
        </p:txBody>
      </p:sp>
      <p:sp>
        <p:nvSpPr>
          <p:cNvPr id="12" name="Quote 1 - left">
            <a:extLst>
              <a:ext uri="{FF2B5EF4-FFF2-40B4-BE49-F238E27FC236}">
                <a16:creationId xmlns:a16="http://schemas.microsoft.com/office/drawing/2014/main" id="{74CB6488-2929-62E5-C898-745037E06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1167968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“</a:t>
            </a:r>
          </a:p>
        </p:txBody>
      </p:sp>
      <p:sp>
        <p:nvSpPr>
          <p:cNvPr id="13" name="Quote 1 - right">
            <a:extLst>
              <a:ext uri="{FF2B5EF4-FFF2-40B4-BE49-F238E27FC236}">
                <a16:creationId xmlns:a16="http://schemas.microsoft.com/office/drawing/2014/main" id="{91174DFB-BAA6-41D2-C5C4-B438E22A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40821" y="1185256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7" name="Attribution 1 Placeholder">
            <a:extLst>
              <a:ext uri="{FF2B5EF4-FFF2-40B4-BE49-F238E27FC236}">
                <a16:creationId xmlns:a16="http://schemas.microsoft.com/office/drawing/2014/main" id="{2A25C115-1C3A-AC3A-C7C7-570E85027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193" y="2116732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7" name="Quote 2 - left">
            <a:extLst>
              <a:ext uri="{FF2B5EF4-FFF2-40B4-BE49-F238E27FC236}">
                <a16:creationId xmlns:a16="http://schemas.microsoft.com/office/drawing/2014/main" id="{007BC3EA-75CF-5946-828D-DEFAF530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3477024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rgbClr val="FF5F05"/>
                </a:solidFill>
              </a:rPr>
              <a:t>“</a:t>
            </a:r>
          </a:p>
        </p:txBody>
      </p:sp>
      <p:sp>
        <p:nvSpPr>
          <p:cNvPr id="8" name="Quote 2 - right">
            <a:extLst>
              <a:ext uri="{FF2B5EF4-FFF2-40B4-BE49-F238E27FC236}">
                <a16:creationId xmlns:a16="http://schemas.microsoft.com/office/drawing/2014/main" id="{254A594E-C5D9-FA57-D21E-EAA6B5CB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088267" y="3494312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9" name="Long Quote Placeholder">
            <a:extLst>
              <a:ext uri="{FF2B5EF4-FFF2-40B4-BE49-F238E27FC236}">
                <a16:creationId xmlns:a16="http://schemas.microsoft.com/office/drawing/2014/main" id="{C6593C7D-5AD9-BC2C-0070-B0B3F7287B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0741" y="3501730"/>
            <a:ext cx="6179926" cy="150724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Long Paragraph Quote </a:t>
            </a:r>
          </a:p>
        </p:txBody>
      </p:sp>
      <p:sp>
        <p:nvSpPr>
          <p:cNvPr id="20" name="Long Quote attribution Placeholder">
            <a:extLst>
              <a:ext uri="{FF2B5EF4-FFF2-40B4-BE49-F238E27FC236}">
                <a16:creationId xmlns:a16="http://schemas.microsoft.com/office/drawing/2014/main" id="{D808D8CD-BCBE-F257-3C6F-64185F7ABD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193" y="5065124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2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6AA2EA-F5CC-A830-112E-D187F5411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1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2273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558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381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93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464D1-DDEC-4858-9CA3-246D12B35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8" name="Subhead Placeholder 1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2203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46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69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80438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B32AFE-F932-DF9D-9DB7-1815DFD5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03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361099-F3C8-7FD3-FE7D-BDB8984BD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8" name="Subheading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3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98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396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0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698" y="1578560"/>
            <a:ext cx="10371957" cy="387525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689" y="5590340"/>
            <a:ext cx="10367965" cy="612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7D02BED8-DBC4-0252-E92E-234AE9D9F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9104" y="2391179"/>
            <a:ext cx="4187900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A877C0E9-AC67-8A06-EFD9-3C48FB86AF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339" y="3166449"/>
            <a:ext cx="4187900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6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9FFDD080-4638-6791-3E4F-BA329002E2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247" y="4070491"/>
            <a:ext cx="769550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8247" y="4980067"/>
            <a:ext cx="7695506" cy="6125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25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A352AF-0D0B-CA5B-F6AB-E8E707C2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A294C2DE-00CB-57AC-36E4-F1BD262706D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430338" y="1747838"/>
            <a:ext cx="9134475" cy="436086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7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AC6FB-79B2-8934-E612-EC987EF3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9E07F9AC-4E7E-9623-9170-90BDADFA2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2" name="Title Underscore">
            <a:extLst>
              <a:ext uri="{FF2B5EF4-FFF2-40B4-BE49-F238E27FC236}">
                <a16:creationId xmlns:a16="http://schemas.microsoft.com/office/drawing/2014/main" id="{58F4D01E-94DA-4F0B-8E13-618D11B2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lock I">
            <a:extLst>
              <a:ext uri="{FF2B5EF4-FFF2-40B4-BE49-F238E27FC236}">
                <a16:creationId xmlns:a16="http://schemas.microsoft.com/office/drawing/2014/main" id="{2ECD6B36-AE20-6B2C-70DA-90541397C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45B5409-DDAC-5BBA-E785-37F723B56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Questions/Contact/Information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982A2E9-6729-F459-2EB4-38593EB18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EC420C19-0C40-EAE2-AA9D-5101B4FF16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AF599E-70A8-5E76-56CB-CA69217C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F63E5-FDDB-6B44-048F-EF43D6670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DE6DDB-A415-6C63-7353-2B6BB41D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EE499929-DC2D-46B3-A28E-229CC329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E693DE19-AD82-43E4-870B-ABD71ED9E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0D3AEAA-8383-5B38-DD49-CF2D2E42B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Questions/Contact/Information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50F580-D423-6DBC-88B2-B37D4EB87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epartment/Unit name Placeholder">
            <a:extLst>
              <a:ext uri="{FF2B5EF4-FFF2-40B4-BE49-F238E27FC236}">
                <a16:creationId xmlns:a16="http://schemas.microsoft.com/office/drawing/2014/main" id="{D09D9943-0FAE-E4DE-E4FE-0B3F8F551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C285FAE-FC3C-B139-BFE4-13B464552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2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F629A3-552F-E006-13D5-0CE1F4DDF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8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60F61-2344-C760-857E-55ED7348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D10096E1-7AA4-3695-82F5-7DAD7028D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95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C55AD4A4-2991-D3F6-2545-9BA75BB14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08955-08BB-4699-BDD8-1E3D7EEF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B2E1F-8BE8-6F6E-A1F6-527F51B3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605B6C-A108-B529-76C2-7C90E4E9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3" r:id="rId6"/>
    <p:sldLayoutId id="2147483664" r:id="rId7"/>
    <p:sldLayoutId id="2147483665" r:id="rId8"/>
    <p:sldLayoutId id="2147483651" r:id="rId9"/>
    <p:sldLayoutId id="2147483666" r:id="rId10"/>
    <p:sldLayoutId id="2147483681" r:id="rId11"/>
    <p:sldLayoutId id="2147483671" r:id="rId12"/>
    <p:sldLayoutId id="2147483670" r:id="rId13"/>
    <p:sldLayoutId id="2147483652" r:id="rId14"/>
    <p:sldLayoutId id="2147483653" r:id="rId15"/>
    <p:sldLayoutId id="2147483672" r:id="rId16"/>
    <p:sldLayoutId id="2147483673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54" r:id="rId24"/>
    <p:sldLayoutId id="2147483655" r:id="rId25"/>
    <p:sldLayoutId id="2147483656" r:id="rId26"/>
    <p:sldLayoutId id="2147483657" r:id="rId27"/>
    <p:sldLayoutId id="2147483667" r:id="rId28"/>
    <p:sldLayoutId id="2147483668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93D3-8817-DF03-8CB5-9D7156AA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D6F7EC-2048-13D8-430B-FAFD0E87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1851" y="1814514"/>
            <a:ext cx="8569236" cy="1614486"/>
          </a:xfrm>
        </p:spPr>
        <p:txBody>
          <a:bodyPr>
            <a:normAutofit fontScale="90000"/>
          </a:bodyPr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480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C772-DEAF-BAA2-E8D7-7B5FFBB104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61851" y="4853835"/>
            <a:ext cx="8569235" cy="767969"/>
          </a:xfrm>
        </p:spPr>
        <p:txBody>
          <a:bodyPr>
            <a:normAutofit/>
          </a:bodyPr>
          <a:lstStyle/>
          <a:p>
            <a:r>
              <a:rPr lang="en-US" sz="1800"/>
              <a:t>Benjamin Leidig, Yihan Lin, </a:t>
            </a:r>
            <a:r>
              <a:rPr lang="en-US" sz="1800" err="1"/>
              <a:t>Jaehyung</a:t>
            </a:r>
            <a:r>
              <a:rPr lang="en-US" sz="1800"/>
              <a:t> Kim</a:t>
            </a:r>
          </a:p>
          <a:p>
            <a:r>
              <a:rPr lang="en-US" sz="1800"/>
              <a:t>Mentor: </a:t>
            </a:r>
            <a:r>
              <a:rPr lang="en-US" sz="1800" err="1"/>
              <a:t>Hyoeun</a:t>
            </a:r>
            <a:r>
              <a:rPr lang="en-US" sz="1800"/>
              <a:t> Lee</a:t>
            </a:r>
          </a:p>
        </p:txBody>
      </p:sp>
    </p:spTree>
    <p:extLst>
      <p:ext uri="{BB962C8B-B14F-4D97-AF65-F5344CB8AC3E}">
        <p14:creationId xmlns:p14="http://schemas.microsoft.com/office/powerpoint/2010/main" val="289589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4D5C-3716-7DC2-07A6-DF7E7DE4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A743-EF57-B362-BE28-5FE81B4F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Agenda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73877-3FB0-8BAB-4365-8CEF2A5CA7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F52AF-AB6D-2C98-3F24-91E31C505C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BB6C35-435C-8964-8DDB-2A09F744D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047736"/>
              </p:ext>
            </p:extLst>
          </p:nvPr>
        </p:nvGraphicFramePr>
        <p:xfrm>
          <a:off x="114300" y="2082572"/>
          <a:ext cx="11963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738">
                  <a:extLst>
                    <a:ext uri="{9D8B030D-6E8A-4147-A177-3AD203B41FA5}">
                      <a16:colId xmlns:a16="http://schemas.microsoft.com/office/drawing/2014/main" val="1879176776"/>
                    </a:ext>
                  </a:extLst>
                </a:gridCol>
                <a:gridCol w="5604331">
                  <a:extLst>
                    <a:ext uri="{9D8B030D-6E8A-4147-A177-3AD203B41FA5}">
                      <a16:colId xmlns:a16="http://schemas.microsoft.com/office/drawing/2014/main" val="3373769243"/>
                    </a:ext>
                  </a:extLst>
                </a:gridCol>
                <a:gridCol w="5604331">
                  <a:extLst>
                    <a:ext uri="{9D8B030D-6E8A-4147-A177-3AD203B41FA5}">
                      <a16:colId xmlns:a16="http://schemas.microsoft.com/office/drawing/2014/main" val="84231665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2"/>
                          </a:solidFill>
                        </a:rPr>
                        <a:t>I.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2"/>
                          </a:solidFill>
                        </a:rPr>
                        <a:t>Introduction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Motivation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Literature Review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Data Overview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1079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2"/>
                          </a:solidFill>
                        </a:rPr>
                        <a:t>II.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2"/>
                          </a:solidFill>
                        </a:rPr>
                        <a:t>Approach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Preprocessing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Modeling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7333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2"/>
                          </a:solidFill>
                        </a:rPr>
                        <a:t>III.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2"/>
                          </a:solidFill>
                        </a:rPr>
                        <a:t>Findings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Reduced Dataset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Effect of Target Transformations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Model Evaluations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95361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2"/>
                          </a:solidFill>
                        </a:rPr>
                        <a:t>IV.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chemeClr val="tx2"/>
                          </a:solidFill>
                        </a:rPr>
                        <a:t>Discussion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Strengths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Limitations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Future Work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555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49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F204-BEDB-0EF6-B91E-B712826C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E4E2-3030-9905-D4BD-7C9E7CFF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EF42-163E-5041-1544-162A10D68C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/>
              <a:t>Motivation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Literature Review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Data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9658F-36CB-CD70-2FEE-FE8DE035DB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17326-DA33-168B-C898-5C0FD3089E0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0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1F93-2F8E-0A80-BF9A-D0C0A3C8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2DB0-6BAB-A500-8D27-C6B0931C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Motivation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D26D0-2483-793D-70EE-812598F405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851218"/>
            <a:ext cx="10370190" cy="4120309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dirty="0"/>
              <a:t>Future </a:t>
            </a:r>
            <a:r>
              <a:rPr lang="en-US" sz="1800" b="1" dirty="0"/>
              <a:t>power production is uncertain</a:t>
            </a:r>
            <a:r>
              <a:rPr lang="en-US" sz="1800" dirty="0"/>
              <a:t> due to: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2"/>
                </a:solidFill>
              </a:rPr>
              <a:t>Environmental factors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2"/>
                </a:solidFill>
              </a:rPr>
              <a:t>Energy source variability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dirty="0"/>
              <a:t>Knowing electricity costs beforehand helps: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2"/>
                </a:solidFill>
              </a:rPr>
              <a:t>Anticipate shortages </a:t>
            </a:r>
            <a:r>
              <a:rPr lang="en-US" sz="1800" dirty="0">
                <a:solidFill>
                  <a:schemeClr val="tx2"/>
                </a:solidFill>
              </a:rPr>
              <a:t>to avoid blackouts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Identify locations for infrastructural investment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dirty="0"/>
              <a:t>Accurate </a:t>
            </a:r>
            <a:r>
              <a:rPr lang="en-US" sz="1800" b="1" dirty="0"/>
              <a:t>electricity price forecasts are essential to maintain social and economic stability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37CA7-22B9-532C-175A-D2C79A66D1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351E8-3412-7047-08E1-8364F759294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8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DD80A-09DB-FB90-719C-EF901494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A7B0-32BE-F4EB-4B8C-D262B21C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Source Sans Pro SemiBold"/>
              </a:rPr>
              <a:t>Literature Review 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56D16-F6CF-0084-7E06-B57792E602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851218"/>
            <a:ext cx="7966960" cy="41203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>
                <a:ea typeface="+mn-lt"/>
                <a:cs typeface="+mn-lt"/>
              </a:rPr>
              <a:t>Traditional Approaches to Electricity Price Forecasting:</a:t>
            </a:r>
            <a:endParaRPr lang="en-US" sz="1800" b="1" dirty="0"/>
          </a:p>
          <a:p>
            <a:pPr marL="102870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Short-term electricity price forecasting (EPF) has traditionally relied on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statistical and econometric models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(e.g., ARX, LASSO, regime-switching) frameworks</a:t>
            </a:r>
            <a:endParaRPr lang="en-US" sz="1800" b="1" dirty="0">
              <a:solidFill>
                <a:schemeClr val="tx2"/>
              </a:solidFill>
              <a:ea typeface="Source Sans Pro"/>
            </a:endParaRPr>
          </a:p>
          <a:p>
            <a:pPr marL="102870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Machine learning and deep learning models improve performance by capturing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nonlinear and volatile price dynamics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>
                <a:ea typeface="+mn-lt"/>
                <a:cs typeface="+mn-lt"/>
              </a:rPr>
              <a:t>Feature Selection:</a:t>
            </a:r>
          </a:p>
          <a:p>
            <a:pPr marL="102870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RF-RFE ranks feature importance using Random Forest and iteratively removes the least important features to select an informative subset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3A964-D977-940F-8B07-F3AD9CF060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EEB45-D1FC-8096-F7E3-5AC64636DB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2F914-B967-DE25-7C10-995396740B99}"/>
              </a:ext>
            </a:extLst>
          </p:cNvPr>
          <p:cNvSpPr txBox="1"/>
          <p:nvPr/>
        </p:nvSpPr>
        <p:spPr>
          <a:xfrm>
            <a:off x="4572000" y="5682435"/>
            <a:ext cx="7624070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Based on: Ben Amor, S., Möbius, T., &amp; </a:t>
            </a:r>
            <a:r>
              <a:rPr lang="en-US" sz="1600" b="1" err="1">
                <a:solidFill>
                  <a:schemeClr val="tx2"/>
                </a:solidFill>
                <a:ea typeface="+mn-lt"/>
                <a:cs typeface="+mn-lt"/>
              </a:rPr>
              <a:t>Müsgens</a:t>
            </a:r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, F. (2024). </a:t>
            </a:r>
            <a:r>
              <a:rPr lang="en-US" sz="1600" b="1" i="1">
                <a:solidFill>
                  <a:schemeClr val="tx2"/>
                </a:solidFill>
                <a:ea typeface="+mn-lt"/>
                <a:cs typeface="+mn-lt"/>
              </a:rPr>
              <a:t>Bridging an energy system model with an ensemble deep-learning approach for electricity price forecasting.</a:t>
            </a:r>
            <a:endParaRPr lang="en-US" sz="1600" b="1">
              <a:solidFill>
                <a:schemeClr val="tx2"/>
              </a:solidFill>
              <a:ea typeface="+mn-lt"/>
              <a:cs typeface="+mn-lt"/>
            </a:endParaRPr>
          </a:p>
        </p:txBody>
      </p:sp>
      <p:pic>
        <p:nvPicPr>
          <p:cNvPr id="7" name="Picture 6" descr="A flowchart of a diagram&#10;&#10;AI-generated content may be incorrect.">
            <a:extLst>
              <a:ext uri="{FF2B5EF4-FFF2-40B4-BE49-F238E27FC236}">
                <a16:creationId xmlns:a16="http://schemas.microsoft.com/office/drawing/2014/main" id="{130F7B41-5267-993F-FCB1-57E2B14F0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4178" y="1851218"/>
            <a:ext cx="2647136" cy="3702293"/>
          </a:xfrm>
          <a:prstGeom prst="rect">
            <a:avLst/>
          </a:prstGeom>
          <a:ln w="2857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711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EC59-568A-03BB-845E-96A033C3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84B8-B7EB-1766-E68B-80ED1E78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8F1F8-8882-171C-A597-6DE551739B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800" b="1" dirty="0">
                <a:ea typeface="Source Sans Pro"/>
              </a:rPr>
              <a:t>Limitations:</a:t>
            </a:r>
          </a:p>
          <a:p>
            <a:pPr marL="97155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Purely data-driven models do not explicitly capture physical and economic market mechanisms</a:t>
            </a:r>
          </a:p>
          <a:p>
            <a:pPr marL="97155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While hybrid approaches improve forecasting accuracy, they rely on complex energy system models and increased computational cost </a:t>
            </a: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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limits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scalability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 and </a:t>
            </a:r>
            <a:r>
              <a:rPr lang="en-US" sz="1800" b="1" dirty="0">
                <a:solidFill>
                  <a:schemeClr val="tx2"/>
                </a:solidFill>
                <a:ea typeface="+mn-lt"/>
                <a:cs typeface="+mn-lt"/>
              </a:rPr>
              <a:t>practical deployment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>
                <a:ea typeface="Source Sans Pro"/>
              </a:rPr>
              <a:t>Positioning of Our Project:</a:t>
            </a:r>
            <a:endParaRPr lang="en-US" sz="1800" b="1" dirty="0"/>
          </a:p>
          <a:p>
            <a:pPr marL="97155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Aligns closely with the literature by adopting the same market (German EPEX SPOT), forecasting horizon (hourly day-ahead), and core price drivers</a:t>
            </a:r>
          </a:p>
          <a:p>
            <a:pPr marL="97155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Acknowledges the limitations of purely data-driven models, as highlighted in recent hybrid electricity price forecasting studies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971550" lvl="1" indent="-342900">
              <a:lnSpc>
                <a:spcPct val="100000"/>
              </a:lnSpc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Source Sans Pro"/>
              </a:rPr>
              <a:t>Focus on practical, scalable </a:t>
            </a:r>
            <a:r>
              <a:rPr lang="en-US" sz="1800" b="1" dirty="0">
                <a:solidFill>
                  <a:schemeClr val="tx2"/>
                </a:solidFill>
                <a:ea typeface="Source Sans Pro"/>
              </a:rPr>
              <a:t>deep learning</a:t>
            </a:r>
            <a:r>
              <a:rPr lang="en-US" sz="1800" dirty="0">
                <a:solidFill>
                  <a:schemeClr val="tx2"/>
                </a:solidFill>
                <a:ea typeface="Source Sans Pro"/>
              </a:rPr>
              <a:t> and </a:t>
            </a:r>
            <a:r>
              <a:rPr lang="en-US" sz="1800" b="1" dirty="0">
                <a:solidFill>
                  <a:schemeClr val="tx2"/>
                </a:solidFill>
                <a:ea typeface="Source Sans Pro"/>
              </a:rPr>
              <a:t>boosting models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800" b="1" dirty="0">
              <a:ea typeface="Source Sans Pro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E9C55-EB5E-647B-F05F-436158F060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46383-B916-CAEB-FD02-9E8A2402D6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7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5D48-4972-FC8B-F44C-5D4301AF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B8A3-318D-BCE4-0023-418FBEDD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F3FE2-80F3-F1E2-6296-270C895267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65652-962B-13D8-CD56-2F15DA5783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350B-A188-BB37-9702-686C408F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39FD-7AE3-1D4C-C736-4252EDD996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Time Range</a:t>
            </a:r>
            <a:r>
              <a:rPr lang="en-US" sz="1800" dirty="0"/>
              <a:t>: Hourly electricity prices from January 1, 2019 to December 31, 2024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Target Variable: </a:t>
            </a:r>
            <a:endParaRPr lang="en-US" sz="1800" b="1" dirty="0">
              <a:ea typeface="Source Sans Pro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Day-Ahead Electricity Price (EUR/MWH) from the German EPEX SPOT market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Raw Data Sources:</a:t>
            </a:r>
            <a:endParaRPr lang="en-US" sz="1800" b="1" dirty="0">
              <a:ea typeface="Source Sans Pro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Bright Sky API </a:t>
            </a: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 Weather data 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Energy Charts API  power system and price data</a:t>
            </a:r>
            <a:endParaRPr lang="en-US" sz="1800" b="1" dirty="0">
              <a:solidFill>
                <a:schemeClr val="tx2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Collected Variables:</a:t>
            </a:r>
            <a:endParaRPr lang="en-US" sz="1800" b="1" dirty="0">
              <a:ea typeface="Source Sans Pro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Weather: precipitation, cloud cover, temperature, relative humidity</a:t>
            </a:r>
            <a:endParaRPr lang="en-US" sz="1800" dirty="0">
              <a:solidFill>
                <a:schemeClr val="tx2"/>
              </a:solidFill>
              <a:sym typeface="Wingdings" pitchFamily="2" charset="2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Power System: 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1428750" lvl="2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Load: </a:t>
            </a:r>
            <a:r>
              <a:rPr lang="en-US" sz="1800" dirty="0">
                <a:solidFill>
                  <a:schemeClr val="tx2"/>
                </a:solidFill>
              </a:rPr>
              <a:t>actual grid load (MW), recorded at the end of the following hour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1428750" lvl="2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CBET: total cross-border electricity trading (MW)</a:t>
            </a:r>
            <a:endParaRPr lang="en-US" sz="1800" dirty="0">
              <a:solidFill>
                <a:schemeClr val="tx2"/>
              </a:solidFill>
              <a:ea typeface="Source Sans Pro"/>
            </a:endParaRPr>
          </a:p>
          <a:p>
            <a:pPr marL="971550" lvl="1" indent="-28575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sym typeface="Wingdings" pitchFamily="2" charset="2"/>
              </a:rPr>
              <a:t>Market Price: day-ahead hourly electricity price (target variable)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89314-4858-8C3F-8B5A-0257E7908D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B636-0FA7-BE8D-0349-9D09948F5A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01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333-ABAF-3EE8-F97D-2D30F69C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F50B0-332E-FB0E-E2CA-B39D9714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FF459-835D-148E-4CB5-0D1A1BD651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46700-1C28-C814-C449-BC998A85D6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D50A594-A1A1-9530-5644-AA23B71EBF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10599" y="1028700"/>
            <a:ext cx="3581401" cy="4887359"/>
          </a:xfrm>
        </p:spPr>
        <p:txBody>
          <a:bodyPr>
            <a:no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Day-ahead price is </a:t>
            </a:r>
            <a:r>
              <a:rPr lang="en-US" sz="1800" b="1" dirty="0"/>
              <a:t>stationary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Clear periods of high volatility</a:t>
            </a:r>
            <a:endParaRPr lang="en-US" sz="1800" dirty="0"/>
          </a:p>
          <a:p>
            <a:r>
              <a:rPr lang="en-US" sz="1800" b="1" dirty="0"/>
              <a:t>Autocorrelation Function Plot (ACF):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Daily (24-hour) seasonality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Potential weekly (168-hour) seasonality</a:t>
            </a:r>
          </a:p>
          <a:p>
            <a:r>
              <a:rPr lang="en-US" sz="1800" b="1" dirty="0"/>
              <a:t>Partial Autocorrelation Function (PACF):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Daily seasonality diminishes after ~8 days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Weekly seasonality diminishes after ~2 weeks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Last day is most correlated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Last week is next most correlated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44FCEB-3594-23E5-5339-89B2D88D16E6}"/>
              </a:ext>
            </a:extLst>
          </p:cNvPr>
          <p:cNvGrpSpPr/>
          <p:nvPr/>
        </p:nvGrpSpPr>
        <p:grpSpPr>
          <a:xfrm>
            <a:off x="0" y="1749308"/>
            <a:ext cx="8648258" cy="4324129"/>
            <a:chOff x="0" y="2344615"/>
            <a:chExt cx="7772400" cy="3886200"/>
          </a:xfrm>
        </p:grpSpPr>
        <p:pic>
          <p:nvPicPr>
            <p:cNvPr id="6" name="Picture 5" descr="A graph of a graph of a graph&#10;&#10;AI-generated content may be incorrect.">
              <a:extLst>
                <a:ext uri="{FF2B5EF4-FFF2-40B4-BE49-F238E27FC236}">
                  <a16:creationId xmlns:a16="http://schemas.microsoft.com/office/drawing/2014/main" id="{5E27D391-A572-8F04-2100-90EA871CD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287715"/>
              <a:ext cx="7772400" cy="1943100"/>
            </a:xfrm>
            <a:prstGeom prst="rect">
              <a:avLst/>
            </a:prstGeom>
          </p:spPr>
        </p:pic>
        <p:pic>
          <p:nvPicPr>
            <p:cNvPr id="8" name="Picture 7" descr="A graph showing a line of a graph&#10;&#10;AI-generated content may be incorrect.">
              <a:extLst>
                <a:ext uri="{FF2B5EF4-FFF2-40B4-BE49-F238E27FC236}">
                  <a16:creationId xmlns:a16="http://schemas.microsoft.com/office/drawing/2014/main" id="{DE89E281-03BF-3DA9-C3E0-1D4C2827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344615"/>
              <a:ext cx="7772400" cy="1943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1417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FFCE-B999-FD57-4C61-9B4AFB62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06DF-DAFD-3691-BA2A-5FA31276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385CA-6B17-D6F5-5DEE-C6F1F363E3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/>
              <a:t>Preprocessing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Modeling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414FA-6002-F3BD-ACE1-35CCB0B4BA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1D3AC-0F46-C8FC-6378-5A7081142C3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0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9436B-8DF1-033C-269F-20CE273F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31DC-4AB9-65F1-F4FD-F1223356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9D63C-A27A-AE3C-1053-064AD9AC31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F4C88-1784-D477-1A17-00FA168BF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37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BFC1-F861-5599-06E7-6C4B44A53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002B780-42E6-FA3D-A2C7-4DA3B2746BD7}"/>
              </a:ext>
            </a:extLst>
          </p:cNvPr>
          <p:cNvSpPr/>
          <p:nvPr/>
        </p:nvSpPr>
        <p:spPr>
          <a:xfrm>
            <a:off x="5739300" y="1842007"/>
            <a:ext cx="4574013" cy="1479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1B191-80BB-E2BF-3401-2ECADEFB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Feature Engineering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62B1B7-3967-C658-031D-C87D7B3E8D1E}"/>
                  </a:ext>
                </a:extLst>
              </p:cNvPr>
              <p:cNvSpPr>
                <a:spLocks noGrp="1"/>
              </p:cNvSpPr>
              <p:nvPr>
                <p:ph type="body" sz="quarter" idx="20"/>
              </p:nvPr>
            </p:nvSpPr>
            <p:spPr>
              <a:xfrm>
                <a:off x="652463" y="2320720"/>
                <a:ext cx="10370190" cy="3619805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Traders gather at noon of the current day to determine hourly prices for all the next day</a:t>
                </a:r>
              </a:p>
              <a:p>
                <a:pPr marL="342900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Accordingly, all </a:t>
                </a:r>
                <a:r>
                  <a:rPr lang="en-US" sz="1800" b="1" dirty="0">
                    <a:solidFill>
                      <a:schemeClr val="tx2"/>
                    </a:solidFill>
                  </a:rPr>
                  <a:t>covariates were lagged between 24 – 48 hours </a:t>
                </a:r>
                <a:r>
                  <a:rPr lang="en-US" sz="1800" dirty="0">
                    <a:solidFill>
                      <a:schemeClr val="tx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∈{24, 25,…,48}</m:t>
                    </m:r>
                  </m:oMath>
                </a14:m>
                <a:r>
                  <a:rPr lang="en-US" sz="1800" dirty="0">
                    <a:solidFill>
                      <a:schemeClr val="tx2"/>
                    </a:solidFill>
                  </a:rPr>
                  <a:t>)</a:t>
                </a:r>
              </a:p>
              <a:p>
                <a:pPr marL="342900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This avoids overcomplicated solutions and </a:t>
                </a:r>
                <a:r>
                  <a:rPr lang="en-US" sz="1800" b="1" dirty="0">
                    <a:solidFill>
                      <a:schemeClr val="tx2"/>
                    </a:solidFill>
                  </a:rPr>
                  <a:t>incorporates real-time forecasting constraints</a:t>
                </a:r>
              </a:p>
              <a:p>
                <a:pPr marL="342900" indent="-342900">
                  <a:buFont typeface="Wingdings" pitchFamily="2" charset="2"/>
                  <a:buChar char="q"/>
                </a:pPr>
                <a:endParaRPr lang="en-US" sz="1800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Wingdings" pitchFamily="2" charset="2"/>
                  <a:buChar char="q"/>
                </a:pPr>
                <a:endParaRPr lang="en-US" sz="1800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Wingdings" pitchFamily="2" charset="2"/>
                  <a:buChar char="q"/>
                </a:pPr>
                <a:endParaRPr lang="en-US" sz="1800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Additionally, all </a:t>
                </a:r>
                <a:r>
                  <a:rPr lang="en-US" sz="1800" b="1" dirty="0">
                    <a:solidFill>
                      <a:schemeClr val="tx2"/>
                    </a:solidFill>
                  </a:rPr>
                  <a:t>variables were carefully aligned </a:t>
                </a:r>
                <a:r>
                  <a:rPr lang="en-US" sz="1800" dirty="0">
                    <a:solidFill>
                      <a:schemeClr val="tx2"/>
                    </a:solidFill>
                  </a:rPr>
                  <a:t>according to research / industry standards</a:t>
                </a:r>
              </a:p>
              <a:p>
                <a:pPr marL="1028700" lvl="1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Each timestamp represents the data for the following hour</a:t>
                </a:r>
              </a:p>
              <a:p>
                <a:pPr marL="1028700" lvl="1" indent="-342900">
                  <a:buFont typeface="Wingdings" pitchFamily="2" charset="2"/>
                  <a:buChar char="q"/>
                </a:pPr>
                <a:r>
                  <a:rPr lang="en-US" sz="1800" dirty="0">
                    <a:solidFill>
                      <a:schemeClr val="tx2"/>
                    </a:solidFill>
                  </a:rPr>
                  <a:t>e.g., </a:t>
                </a:r>
                <a:r>
                  <a:rPr lang="en-US" sz="1800" i="1" dirty="0">
                    <a:solidFill>
                      <a:schemeClr val="tx2"/>
                    </a:solidFill>
                  </a:rPr>
                  <a:t>(01:00) cumulative rainfall until 02:00</a:t>
                </a:r>
              </a:p>
              <a:p>
                <a:pPr marL="342900" indent="-342900">
                  <a:buFont typeface="Wingdings" pitchFamily="2" charset="2"/>
                  <a:buChar char="q"/>
                </a:pPr>
                <a:r>
                  <a:rPr lang="en-US" sz="1800" b="1" dirty="0">
                    <a:solidFill>
                      <a:schemeClr val="tx2"/>
                    </a:solidFill>
                  </a:rPr>
                  <a:t>Lagged price </a:t>
                </a:r>
                <a:r>
                  <a:rPr lang="en-US" sz="1800" dirty="0">
                    <a:solidFill>
                      <a:schemeClr val="tx2"/>
                    </a:solidFill>
                  </a:rPr>
                  <a:t>was included as a covariate in the dataset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362B1B7-3967-C658-031D-C87D7B3E8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652463" y="2320720"/>
                <a:ext cx="10370190" cy="3619805"/>
              </a:xfrm>
              <a:blipFill>
                <a:blip r:embed="rId3"/>
                <a:stretch>
                  <a:fillRect l="-367" t="-1399" b="-1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FA992A2-055C-C074-14B1-114479F9BABF}"/>
              </a:ext>
            </a:extLst>
          </p:cNvPr>
          <p:cNvSpPr/>
          <p:nvPr/>
        </p:nvSpPr>
        <p:spPr>
          <a:xfrm>
            <a:off x="4953000" y="3977395"/>
            <a:ext cx="2286000" cy="1479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57FB0-77FD-18BD-4EB6-CA513098E1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96646-DDE2-A83D-B14D-E3D5F2FFFD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EC621-C2F7-61FC-9580-AA42D1654664}"/>
              </a:ext>
            </a:extLst>
          </p:cNvPr>
          <p:cNvCxnSpPr/>
          <p:nvPr/>
        </p:nvCxnSpPr>
        <p:spPr>
          <a:xfrm>
            <a:off x="1169347" y="1989924"/>
            <a:ext cx="9144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2637AF-5125-4B9B-F939-5EC3F392184F}"/>
              </a:ext>
            </a:extLst>
          </p:cNvPr>
          <p:cNvCxnSpPr>
            <a:cxnSpLocks/>
          </p:cNvCxnSpPr>
          <p:nvPr/>
        </p:nvCxnSpPr>
        <p:spPr>
          <a:xfrm>
            <a:off x="1170370" y="1719901"/>
            <a:ext cx="0" cy="27002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AB4A20-8892-65BC-E089-297A6E12001D}"/>
              </a:ext>
            </a:extLst>
          </p:cNvPr>
          <p:cNvCxnSpPr>
            <a:cxnSpLocks/>
          </p:cNvCxnSpPr>
          <p:nvPr/>
        </p:nvCxnSpPr>
        <p:spPr>
          <a:xfrm>
            <a:off x="10313347" y="1719901"/>
            <a:ext cx="0" cy="27002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5E79FD-C749-84A9-4643-129F880F8AF1}"/>
              </a:ext>
            </a:extLst>
          </p:cNvPr>
          <p:cNvCxnSpPr>
            <a:cxnSpLocks/>
          </p:cNvCxnSpPr>
          <p:nvPr/>
        </p:nvCxnSpPr>
        <p:spPr>
          <a:xfrm>
            <a:off x="5741347" y="1719901"/>
            <a:ext cx="0" cy="27002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DAFABD-A893-3F86-A459-EF400B6B666E}"/>
              </a:ext>
            </a:extLst>
          </p:cNvPr>
          <p:cNvCxnSpPr>
            <a:cxnSpLocks/>
          </p:cNvCxnSpPr>
          <p:nvPr/>
        </p:nvCxnSpPr>
        <p:spPr>
          <a:xfrm>
            <a:off x="8029392" y="1807044"/>
            <a:ext cx="0" cy="18288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4AD8D8-7CDF-18E4-59D8-2985474430BA}"/>
              </a:ext>
            </a:extLst>
          </p:cNvPr>
          <p:cNvCxnSpPr>
            <a:cxnSpLocks/>
          </p:cNvCxnSpPr>
          <p:nvPr/>
        </p:nvCxnSpPr>
        <p:spPr>
          <a:xfrm>
            <a:off x="3456368" y="1807044"/>
            <a:ext cx="0" cy="36576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E5B968-6B3F-1EDC-7CFC-CD1F577E3087}"/>
              </a:ext>
            </a:extLst>
          </p:cNvPr>
          <p:cNvCxnSpPr>
            <a:cxnSpLocks/>
          </p:cNvCxnSpPr>
          <p:nvPr/>
        </p:nvCxnSpPr>
        <p:spPr>
          <a:xfrm>
            <a:off x="2313880" y="1807044"/>
            <a:ext cx="0" cy="1828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D72AF1-6EC2-8B4E-4CD2-79D80135FE6A}"/>
              </a:ext>
            </a:extLst>
          </p:cNvPr>
          <p:cNvCxnSpPr>
            <a:cxnSpLocks/>
          </p:cNvCxnSpPr>
          <p:nvPr/>
        </p:nvCxnSpPr>
        <p:spPr>
          <a:xfrm>
            <a:off x="4657158" y="1807044"/>
            <a:ext cx="0" cy="1828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C06548-E180-D399-8D76-21F86A7D1F6B}"/>
              </a:ext>
            </a:extLst>
          </p:cNvPr>
          <p:cNvCxnSpPr>
            <a:cxnSpLocks/>
          </p:cNvCxnSpPr>
          <p:nvPr/>
        </p:nvCxnSpPr>
        <p:spPr>
          <a:xfrm>
            <a:off x="6883835" y="1807044"/>
            <a:ext cx="0" cy="1828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D225A3-9597-E8BA-4CF5-B4B3F7B4A538}"/>
              </a:ext>
            </a:extLst>
          </p:cNvPr>
          <p:cNvCxnSpPr>
            <a:cxnSpLocks/>
          </p:cNvCxnSpPr>
          <p:nvPr/>
        </p:nvCxnSpPr>
        <p:spPr>
          <a:xfrm>
            <a:off x="9171880" y="1807044"/>
            <a:ext cx="0" cy="1828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3487E4-4176-2E60-2763-11E700ECA04B}"/>
              </a:ext>
            </a:extLst>
          </p:cNvPr>
          <p:cNvSpPr txBox="1"/>
          <p:nvPr/>
        </p:nvSpPr>
        <p:spPr>
          <a:xfrm>
            <a:off x="847205" y="146816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00:00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4216D-3B53-6201-BC18-C57424A31F46}"/>
              </a:ext>
            </a:extLst>
          </p:cNvPr>
          <p:cNvSpPr txBox="1"/>
          <p:nvPr/>
        </p:nvSpPr>
        <p:spPr>
          <a:xfrm>
            <a:off x="1990205" y="146816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06:00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7E04D6-EC20-42F4-218C-54017DA6FB82}"/>
              </a:ext>
            </a:extLst>
          </p:cNvPr>
          <p:cNvSpPr txBox="1"/>
          <p:nvPr/>
        </p:nvSpPr>
        <p:spPr>
          <a:xfrm>
            <a:off x="3130138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12:00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35BC23-E1AA-8390-2BD7-D116C07A052C}"/>
              </a:ext>
            </a:extLst>
          </p:cNvPr>
          <p:cNvSpPr txBox="1"/>
          <p:nvPr/>
        </p:nvSpPr>
        <p:spPr>
          <a:xfrm>
            <a:off x="4333993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18:00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7B2AD-BFE1-442D-C6D8-2F1080F807F9}"/>
              </a:ext>
            </a:extLst>
          </p:cNvPr>
          <p:cNvSpPr txBox="1"/>
          <p:nvPr/>
        </p:nvSpPr>
        <p:spPr>
          <a:xfrm>
            <a:off x="5420228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00:00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2A8D73-1EE8-0D12-4768-448DA3417FC1}"/>
              </a:ext>
            </a:extLst>
          </p:cNvPr>
          <p:cNvSpPr txBox="1"/>
          <p:nvPr/>
        </p:nvSpPr>
        <p:spPr>
          <a:xfrm>
            <a:off x="6565785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06:00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5AC54B-362A-8804-18E1-A292175EB23C}"/>
              </a:ext>
            </a:extLst>
          </p:cNvPr>
          <p:cNvSpPr txBox="1"/>
          <p:nvPr/>
        </p:nvSpPr>
        <p:spPr>
          <a:xfrm>
            <a:off x="7711340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12:00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682533-C3F3-71CA-3ABD-21AD3A716F87}"/>
              </a:ext>
            </a:extLst>
          </p:cNvPr>
          <p:cNvSpPr txBox="1"/>
          <p:nvPr/>
        </p:nvSpPr>
        <p:spPr>
          <a:xfrm>
            <a:off x="8851783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18:00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F8BD2-668B-DB8F-11CA-719898B70B56}"/>
              </a:ext>
            </a:extLst>
          </p:cNvPr>
          <p:cNvSpPr txBox="1"/>
          <p:nvPr/>
        </p:nvSpPr>
        <p:spPr>
          <a:xfrm>
            <a:off x="9991204" y="146639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00:00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A2E4C0-3F1D-C882-A8C8-3467ABDD34D3}"/>
              </a:ext>
            </a:extLst>
          </p:cNvPr>
          <p:cNvCxnSpPr/>
          <p:nvPr/>
        </p:nvCxnSpPr>
        <p:spPr>
          <a:xfrm>
            <a:off x="4952999" y="4124047"/>
            <a:ext cx="2286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A8465B-5E4F-DFEA-21FD-C5484E09050C}"/>
              </a:ext>
            </a:extLst>
          </p:cNvPr>
          <p:cNvCxnSpPr>
            <a:cxnSpLocks/>
          </p:cNvCxnSpPr>
          <p:nvPr/>
        </p:nvCxnSpPr>
        <p:spPr>
          <a:xfrm>
            <a:off x="4955310" y="3854023"/>
            <a:ext cx="0" cy="54864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3AE2B3-092F-9179-26A4-3FF48F8A6E86}"/>
              </a:ext>
            </a:extLst>
          </p:cNvPr>
          <p:cNvCxnSpPr>
            <a:cxnSpLocks/>
          </p:cNvCxnSpPr>
          <p:nvPr/>
        </p:nvCxnSpPr>
        <p:spPr>
          <a:xfrm>
            <a:off x="7238999" y="3854024"/>
            <a:ext cx="0" cy="27002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706F524-7B63-3484-C73A-2BDAE70F01ED}"/>
              </a:ext>
            </a:extLst>
          </p:cNvPr>
          <p:cNvCxnSpPr>
            <a:cxnSpLocks/>
          </p:cNvCxnSpPr>
          <p:nvPr/>
        </p:nvCxnSpPr>
        <p:spPr>
          <a:xfrm>
            <a:off x="6095999" y="3941167"/>
            <a:ext cx="0" cy="18288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E4F9B1D-18C4-CC40-91B3-0E0524961B17}"/>
              </a:ext>
            </a:extLst>
          </p:cNvPr>
          <p:cNvSpPr txBox="1"/>
          <p:nvPr/>
        </p:nvSpPr>
        <p:spPr>
          <a:xfrm>
            <a:off x="4630990" y="360261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01:00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A5761A-2714-D94D-75B1-EBC83195BEBF}"/>
              </a:ext>
            </a:extLst>
          </p:cNvPr>
          <p:cNvSpPr txBox="1"/>
          <p:nvPr/>
        </p:nvSpPr>
        <p:spPr>
          <a:xfrm>
            <a:off x="5773989" y="360261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01:30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E042F2-8CAA-8EBF-8FC5-28E6D20577AF}"/>
              </a:ext>
            </a:extLst>
          </p:cNvPr>
          <p:cNvSpPr txBox="1"/>
          <p:nvPr/>
        </p:nvSpPr>
        <p:spPr>
          <a:xfrm>
            <a:off x="6920923" y="360261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02:00</a:t>
            </a:r>
          </a:p>
        </p:txBody>
      </p:sp>
    </p:spTree>
    <p:extLst>
      <p:ext uri="{BB962C8B-B14F-4D97-AF65-F5344CB8AC3E}">
        <p14:creationId xmlns:p14="http://schemas.microsoft.com/office/powerpoint/2010/main" val="3488064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178F2-5B4B-55F9-54C3-8DF31088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98C3A-DAB6-A9DC-37A7-0246625B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Recursive Feature Elimination (RFE)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BA19D-C193-F0C4-1C7C-515C9D6116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F2EE9D-2BF3-A6EB-F1E6-4394E7AAA319}"/>
              </a:ext>
            </a:extLst>
          </p:cNvPr>
          <p:cNvSpPr txBox="1"/>
          <p:nvPr/>
        </p:nvSpPr>
        <p:spPr>
          <a:xfrm>
            <a:off x="6965863" y="2622099"/>
            <a:ext cx="1830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CV RMSE decreases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C4F7C-A3AC-26D7-39AB-9C0162102A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57E9B9-40EE-1062-E8D1-686B89D358D4}"/>
              </a:ext>
            </a:extLst>
          </p:cNvPr>
          <p:cNvSpPr/>
          <p:nvPr/>
        </p:nvSpPr>
        <p:spPr>
          <a:xfrm>
            <a:off x="1583930" y="1692183"/>
            <a:ext cx="1828800" cy="6858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Feature set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7AD7D4-2FF6-58B6-2C48-EFE0E37D7986}"/>
              </a:ext>
            </a:extLst>
          </p:cNvPr>
          <p:cNvSpPr/>
          <p:nvPr/>
        </p:nvSpPr>
        <p:spPr>
          <a:xfrm>
            <a:off x="3764166" y="1691416"/>
            <a:ext cx="1828800" cy="68733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Train model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3242A4-458F-9DAB-00F0-6A6511F0DE97}"/>
              </a:ext>
            </a:extLst>
          </p:cNvPr>
          <p:cNvSpPr txBox="1"/>
          <p:nvPr/>
        </p:nvSpPr>
        <p:spPr>
          <a:xfrm>
            <a:off x="9230033" y="2622099"/>
            <a:ext cx="105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Otherwise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21CE8C-97B3-1BB3-7216-343835F20D0A}"/>
              </a:ext>
            </a:extLst>
          </p:cNvPr>
          <p:cNvSpPr/>
          <p:nvPr/>
        </p:nvSpPr>
        <p:spPr>
          <a:xfrm>
            <a:off x="5944402" y="1690649"/>
            <a:ext cx="1828800" cy="68733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Rank features by importance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832AFB-BD01-8FEB-676A-44D08AD2CE8D}"/>
              </a:ext>
            </a:extLst>
          </p:cNvPr>
          <p:cNvSpPr/>
          <p:nvPr/>
        </p:nvSpPr>
        <p:spPr>
          <a:xfrm>
            <a:off x="8124638" y="1690649"/>
            <a:ext cx="1828800" cy="68733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Remove the two least importance features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6487B92-669D-401B-F0EC-9793F4562A28}"/>
              </a:ext>
            </a:extLst>
          </p:cNvPr>
          <p:cNvSpPr/>
          <p:nvPr/>
        </p:nvSpPr>
        <p:spPr>
          <a:xfrm>
            <a:off x="10325941" y="2730519"/>
            <a:ext cx="460268" cy="460268"/>
          </a:xfrm>
          <a:custGeom>
            <a:avLst/>
            <a:gdLst>
              <a:gd name="csX0" fmla="*/ 230134 w 460268"/>
              <a:gd name="csY0" fmla="*/ 92974 h 460268"/>
              <a:gd name="csX1" fmla="*/ 367294 w 460268"/>
              <a:gd name="csY1" fmla="*/ 230134 h 460268"/>
              <a:gd name="csX2" fmla="*/ 230134 w 460268"/>
              <a:gd name="csY2" fmla="*/ 367294 h 460268"/>
              <a:gd name="csX3" fmla="*/ 92974 w 460268"/>
              <a:gd name="csY3" fmla="*/ 230134 h 460268"/>
              <a:gd name="csX4" fmla="*/ 230134 w 460268"/>
              <a:gd name="csY4" fmla="*/ 92974 h 460268"/>
              <a:gd name="csX5" fmla="*/ 230134 w 460268"/>
              <a:gd name="csY5" fmla="*/ 47571 h 460268"/>
              <a:gd name="csX6" fmla="*/ 47254 w 460268"/>
              <a:gd name="csY6" fmla="*/ 230134 h 460268"/>
              <a:gd name="csX7" fmla="*/ 230134 w 460268"/>
              <a:gd name="csY7" fmla="*/ 412697 h 460268"/>
              <a:gd name="csX8" fmla="*/ 413014 w 460268"/>
              <a:gd name="csY8" fmla="*/ 230134 h 460268"/>
              <a:gd name="csX9" fmla="*/ 230134 w 460268"/>
              <a:gd name="csY9" fmla="*/ 47571 h 460268"/>
              <a:gd name="csX10" fmla="*/ 230134 w 460268"/>
              <a:gd name="csY10" fmla="*/ 0 h 460268"/>
              <a:gd name="csX11" fmla="*/ 460268 w 460268"/>
              <a:gd name="csY11" fmla="*/ 230134 h 460268"/>
              <a:gd name="csX12" fmla="*/ 230134 w 460268"/>
              <a:gd name="csY12" fmla="*/ 460268 h 460268"/>
              <a:gd name="csX13" fmla="*/ 0 w 460268"/>
              <a:gd name="csY13" fmla="*/ 230134 h 460268"/>
              <a:gd name="csX14" fmla="*/ 230134 w 460268"/>
              <a:gd name="csY14" fmla="*/ 0 h 460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60268" h="460268">
                <a:moveTo>
                  <a:pt x="230134" y="92974"/>
                </a:moveTo>
                <a:cubicBezTo>
                  <a:pt x="305885" y="92974"/>
                  <a:pt x="367294" y="154383"/>
                  <a:pt x="367294" y="230134"/>
                </a:cubicBezTo>
                <a:cubicBezTo>
                  <a:pt x="367294" y="305885"/>
                  <a:pt x="305885" y="367294"/>
                  <a:pt x="230134" y="367294"/>
                </a:cubicBezTo>
                <a:cubicBezTo>
                  <a:pt x="154383" y="367294"/>
                  <a:pt x="92974" y="305885"/>
                  <a:pt x="92974" y="230134"/>
                </a:cubicBezTo>
                <a:cubicBezTo>
                  <a:pt x="92974" y="154383"/>
                  <a:pt x="154383" y="92974"/>
                  <a:pt x="230134" y="92974"/>
                </a:cubicBezTo>
                <a:close/>
                <a:moveTo>
                  <a:pt x="230134" y="47571"/>
                </a:moveTo>
                <a:cubicBezTo>
                  <a:pt x="129132" y="47571"/>
                  <a:pt x="47254" y="129307"/>
                  <a:pt x="47254" y="230134"/>
                </a:cubicBezTo>
                <a:cubicBezTo>
                  <a:pt x="47254" y="330961"/>
                  <a:pt x="129132" y="412697"/>
                  <a:pt x="230134" y="412697"/>
                </a:cubicBezTo>
                <a:cubicBezTo>
                  <a:pt x="331136" y="412697"/>
                  <a:pt x="413014" y="330961"/>
                  <a:pt x="413014" y="230134"/>
                </a:cubicBezTo>
                <a:cubicBezTo>
                  <a:pt x="413014" y="129307"/>
                  <a:pt x="331136" y="47571"/>
                  <a:pt x="230134" y="47571"/>
                </a:cubicBezTo>
                <a:close/>
                <a:moveTo>
                  <a:pt x="230134" y="0"/>
                </a:moveTo>
                <a:cubicBezTo>
                  <a:pt x="357233" y="0"/>
                  <a:pt x="460268" y="103035"/>
                  <a:pt x="460268" y="230134"/>
                </a:cubicBezTo>
                <a:cubicBezTo>
                  <a:pt x="460268" y="357233"/>
                  <a:pt x="357233" y="460268"/>
                  <a:pt x="230134" y="460268"/>
                </a:cubicBezTo>
                <a:cubicBezTo>
                  <a:pt x="103035" y="460268"/>
                  <a:pt x="0" y="357233"/>
                  <a:pt x="0" y="230134"/>
                </a:cubicBezTo>
                <a:cubicBezTo>
                  <a:pt x="0" y="103035"/>
                  <a:pt x="103035" y="0"/>
                  <a:pt x="230134" y="0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B95851-2C08-0C38-5745-0A945798862A}"/>
              </a:ext>
            </a:extLst>
          </p:cNvPr>
          <p:cNvSpPr/>
          <p:nvPr/>
        </p:nvSpPr>
        <p:spPr>
          <a:xfrm>
            <a:off x="772226" y="1804949"/>
            <a:ext cx="460268" cy="460268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E6EEFAE4-AD49-A8A8-3827-27A590F21BE2}"/>
              </a:ext>
            </a:extLst>
          </p:cNvPr>
          <p:cNvSpPr/>
          <p:nvPr/>
        </p:nvSpPr>
        <p:spPr>
          <a:xfrm>
            <a:off x="8810438" y="2727507"/>
            <a:ext cx="457200" cy="457200"/>
          </a:xfrm>
          <a:prstGeom prst="diamond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F2C712-3B43-D48C-AE56-6FDA250D9D17}"/>
              </a:ext>
            </a:extLst>
          </p:cNvPr>
          <p:cNvCxnSpPr>
            <a:stCxn id="18" idx="6"/>
            <a:endCxn id="6" idx="1"/>
          </p:cNvCxnSpPr>
          <p:nvPr/>
        </p:nvCxnSpPr>
        <p:spPr>
          <a:xfrm>
            <a:off x="1232494" y="2035083"/>
            <a:ext cx="351436" cy="0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958490-C7D4-2CB0-8CC5-726311953A57}"/>
              </a:ext>
            </a:extLst>
          </p:cNvPr>
          <p:cNvCxnSpPr/>
          <p:nvPr/>
        </p:nvCxnSpPr>
        <p:spPr>
          <a:xfrm>
            <a:off x="3412730" y="2044473"/>
            <a:ext cx="351436" cy="0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255809-2698-AD89-C40F-E449DD86EB47}"/>
              </a:ext>
            </a:extLst>
          </p:cNvPr>
          <p:cNvCxnSpPr/>
          <p:nvPr/>
        </p:nvCxnSpPr>
        <p:spPr>
          <a:xfrm>
            <a:off x="5592966" y="2034316"/>
            <a:ext cx="351436" cy="0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3A54C9-720A-CCD3-AD0F-4D8BAB12FCE3}"/>
              </a:ext>
            </a:extLst>
          </p:cNvPr>
          <p:cNvCxnSpPr/>
          <p:nvPr/>
        </p:nvCxnSpPr>
        <p:spPr>
          <a:xfrm>
            <a:off x="7773202" y="2034316"/>
            <a:ext cx="351436" cy="0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C7DDEE-52D3-FBE3-A8C0-9720D1F448C5}"/>
              </a:ext>
            </a:extLst>
          </p:cNvPr>
          <p:cNvCxnSpPr>
            <a:cxnSpLocks/>
          </p:cNvCxnSpPr>
          <p:nvPr/>
        </p:nvCxnSpPr>
        <p:spPr>
          <a:xfrm>
            <a:off x="9039038" y="2375865"/>
            <a:ext cx="0" cy="347472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F4EFB6-F508-F5BF-AFC8-A85D55F99B1A}"/>
              </a:ext>
            </a:extLst>
          </p:cNvPr>
          <p:cNvCxnSpPr>
            <a:cxnSpLocks/>
          </p:cNvCxnSpPr>
          <p:nvPr/>
        </p:nvCxnSpPr>
        <p:spPr>
          <a:xfrm>
            <a:off x="9267638" y="2954396"/>
            <a:ext cx="1058303" cy="0"/>
          </a:xfrm>
          <a:prstGeom prst="straightConnector1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5D3BE17-526B-97B4-530D-6FEE87A229A2}"/>
              </a:ext>
            </a:extLst>
          </p:cNvPr>
          <p:cNvCxnSpPr>
            <a:cxnSpLocks/>
            <a:stCxn id="22" idx="1"/>
            <a:endCxn id="18" idx="4"/>
          </p:cNvCxnSpPr>
          <p:nvPr/>
        </p:nvCxnSpPr>
        <p:spPr>
          <a:xfrm rot="10800000">
            <a:off x="1002360" y="2265217"/>
            <a:ext cx="7808078" cy="690890"/>
          </a:xfrm>
          <a:prstGeom prst="bentConnector2">
            <a:avLst/>
          </a:prstGeom>
          <a:ln w="15875">
            <a:solidFill>
              <a:schemeClr val="tx2"/>
            </a:solidFill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FD0202E-0CC0-681C-997C-11133FD448F9}"/>
              </a:ext>
            </a:extLst>
          </p:cNvPr>
          <p:cNvSpPr txBox="1"/>
          <p:nvPr/>
        </p:nvSpPr>
        <p:spPr>
          <a:xfrm>
            <a:off x="686889" y="1466395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Start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A3455C-DDA1-13A2-5126-C1D5F6AEF3A2}"/>
              </a:ext>
            </a:extLst>
          </p:cNvPr>
          <p:cNvSpPr txBox="1"/>
          <p:nvPr/>
        </p:nvSpPr>
        <p:spPr>
          <a:xfrm>
            <a:off x="10297030" y="2384783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</a:rPr>
              <a:t>End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661ACC96-0CBF-6361-9657-488585CEDA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3763425"/>
            <a:ext cx="10370190" cy="1818565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Dimensionality reduction </a:t>
            </a:r>
            <a:r>
              <a:rPr lang="en-US" sz="1800" dirty="0"/>
              <a:t>technique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dirty="0"/>
              <a:t>Cycle recursively eliminates features based on internal model </a:t>
            </a:r>
            <a:r>
              <a:rPr lang="en-US" sz="1800" b="1" dirty="0"/>
              <a:t>feature importance rankings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Light Gradient Boosting Machine </a:t>
            </a:r>
            <a:r>
              <a:rPr lang="en-US" sz="1800" dirty="0"/>
              <a:t>(LGBM) with default hyperparameters was used for ranking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Cross-validation</a:t>
            </a:r>
            <a:r>
              <a:rPr lang="en-US" sz="1800" dirty="0"/>
              <a:t> (CV) was used for stopping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2 splits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90% train, 10% test</a:t>
            </a:r>
          </a:p>
        </p:txBody>
      </p:sp>
    </p:spTree>
    <p:extLst>
      <p:ext uri="{BB962C8B-B14F-4D97-AF65-F5344CB8AC3E}">
        <p14:creationId xmlns:p14="http://schemas.microsoft.com/office/powerpoint/2010/main" val="169305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D100-F937-40B0-7868-CA554396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2469-7FD6-4624-839A-761B6C10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Transformations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62600-B31F-A1E7-DB06-1A17C95CAD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F34D8-B825-FFE7-7624-07ACEC23A5D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5628E-A77A-2ADE-B86D-33870CCB38AB}"/>
              </a:ext>
            </a:extLst>
          </p:cNvPr>
          <p:cNvSpPr txBox="1"/>
          <p:nvPr/>
        </p:nvSpPr>
        <p:spPr>
          <a:xfrm>
            <a:off x="5638800" y="297511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5E5AA9F-F621-306B-9D9C-15DF20C82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497491"/>
                  </p:ext>
                </p:extLst>
              </p:nvPr>
            </p:nvGraphicFramePr>
            <p:xfrm>
              <a:off x="114299" y="1466395"/>
              <a:ext cx="11963402" cy="42431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332">
                      <a:extLst>
                        <a:ext uri="{9D8B030D-6E8A-4147-A177-3AD203B41FA5}">
                          <a16:colId xmlns:a16="http://schemas.microsoft.com/office/drawing/2014/main" val="1879176776"/>
                        </a:ext>
                      </a:extLst>
                    </a:gridCol>
                    <a:gridCol w="5142035">
                      <a:extLst>
                        <a:ext uri="{9D8B030D-6E8A-4147-A177-3AD203B41FA5}">
                          <a16:colId xmlns:a16="http://schemas.microsoft.com/office/drawing/2014/main" val="3373769243"/>
                        </a:ext>
                      </a:extLst>
                    </a:gridCol>
                    <a:gridCol w="5142035">
                      <a:extLst>
                        <a:ext uri="{9D8B030D-6E8A-4147-A177-3AD203B41FA5}">
                          <a16:colId xmlns:a16="http://schemas.microsoft.com/office/drawing/2014/main" val="842316655"/>
                        </a:ext>
                      </a:extLst>
                    </a:gridCol>
                  </a:tblGrid>
                  <a:tr h="862457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Min-Max Scaling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Mirror-Logarithm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10792"/>
                      </a:ext>
                    </a:extLst>
                  </a:tr>
                  <a:tr h="958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Transformation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norm</m:t>
                                    </m:r>
                                  </m:sub>
                                </m:sSub>
                                <m:r>
                                  <a:rPr lang="en-US" sz="1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., 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norm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0,1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for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all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mlog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sgn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8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d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8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.,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6673333"/>
                      </a:ext>
                    </a:extLst>
                  </a:tr>
                  <a:tr h="958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Inverse Transformation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norm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b="0" i="0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1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 b="0" i="0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sgn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1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mlog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800" b="0" i="1" smtClean="0">
                                                        <a:solidFill>
                                                          <a:schemeClr val="tx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800" b="1" i="1" smtClean="0">
                                                        <a:solidFill>
                                                          <a:schemeClr val="tx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𝒚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en-US" sz="1800" b="0" i="1" smtClean="0">
                                                        <a:solidFill>
                                                          <a:schemeClr val="tx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mlog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sz="1800" b="0" i="1" smtClean="0">
                                                    <a:solidFill>
                                                      <a:schemeClr val="tx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800" b="0" i="0" smtClean="0">
                                                    <a:solidFill>
                                                      <a:schemeClr val="tx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sz="1800" b="0" i="1" smtClean="0">
                                                    <a:solidFill>
                                                      <a:schemeClr val="tx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e>
                                            </m:func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.,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953618"/>
                      </a:ext>
                    </a:extLst>
                  </a:tr>
                  <a:tr h="11633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Effect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Accelerates </a:t>
                          </a: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model convergence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Reduces effect of spikes </a:t>
                          </a: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in price on fit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Improves model</a:t>
                          </a: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 generalizability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Generalization of logarithm </a:t>
                          </a: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for zero and negative values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Log-damping effect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Accelerates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model convergence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Proven to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reduce effect of spikes </a:t>
                          </a: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in price on fit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5550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5E5AA9F-F621-306B-9D9C-15DF20C825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497491"/>
                  </p:ext>
                </p:extLst>
              </p:nvPr>
            </p:nvGraphicFramePr>
            <p:xfrm>
              <a:off x="114299" y="1466395"/>
              <a:ext cx="11963402" cy="42431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79332">
                      <a:extLst>
                        <a:ext uri="{9D8B030D-6E8A-4147-A177-3AD203B41FA5}">
                          <a16:colId xmlns:a16="http://schemas.microsoft.com/office/drawing/2014/main" val="1879176776"/>
                        </a:ext>
                      </a:extLst>
                    </a:gridCol>
                    <a:gridCol w="5142035">
                      <a:extLst>
                        <a:ext uri="{9D8B030D-6E8A-4147-A177-3AD203B41FA5}">
                          <a16:colId xmlns:a16="http://schemas.microsoft.com/office/drawing/2014/main" val="3373769243"/>
                        </a:ext>
                      </a:extLst>
                    </a:gridCol>
                    <a:gridCol w="5142035">
                      <a:extLst>
                        <a:ext uri="{9D8B030D-6E8A-4147-A177-3AD203B41FA5}">
                          <a16:colId xmlns:a16="http://schemas.microsoft.com/office/drawing/2014/main" val="842316655"/>
                        </a:ext>
                      </a:extLst>
                    </a:gridCol>
                  </a:tblGrid>
                  <a:tr h="862457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Min-Max Scaling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Mirror-Logarithm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10792"/>
                      </a:ext>
                    </a:extLst>
                  </a:tr>
                  <a:tr h="958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Transformation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840" t="-89474" r="-100247" b="-26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512" t="-89474" b="-261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6673333"/>
                      </a:ext>
                    </a:extLst>
                  </a:tr>
                  <a:tr h="958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Inverse Transformation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2840" t="-192000" r="-100247" b="-1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2512" t="-192000" b="-16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395361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Effect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Accelerates </a:t>
                          </a: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model convergence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Reduces effect of spikes </a:t>
                          </a: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in price on fit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>
                              <a:solidFill>
                                <a:schemeClr val="tx2"/>
                              </a:solidFill>
                            </a:rPr>
                            <a:t>Improves model</a:t>
                          </a: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 generalizability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Generalization of logarithm </a:t>
                          </a: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for zero and negative values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Log-damping effect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Accelerates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model convergence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Proven to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reduce effect of spikes </a:t>
                          </a:r>
                          <a:r>
                            <a:rPr lang="en-US" sz="1800" dirty="0">
                              <a:solidFill>
                                <a:schemeClr val="tx2"/>
                              </a:solidFill>
                            </a:rPr>
                            <a:t>in price on fit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5550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578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6B92-3FC6-8C7B-7C2C-CFE469BF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4A6F-4926-EE3D-2B6F-2722B23A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Train-Validation-Test Split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504A2-076D-5522-7C18-E54248256C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4398483"/>
            <a:ext cx="10370190" cy="1517575"/>
          </a:xfrm>
        </p:spPr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72% – 18% – 10% </a:t>
            </a:r>
            <a:r>
              <a:rPr lang="en-US" sz="1800" dirty="0"/>
              <a:t>split (train – validation – test)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3-fold temporal CV </a:t>
            </a:r>
            <a:r>
              <a:rPr lang="en-US" sz="1800" dirty="0"/>
              <a:t>for hyperparameter optimization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Rolling window </a:t>
            </a:r>
            <a:r>
              <a:rPr lang="en-US" sz="1800" dirty="0"/>
              <a:t>method: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Preserves </a:t>
            </a:r>
            <a:r>
              <a:rPr lang="en-US" sz="1800" b="1" dirty="0">
                <a:solidFill>
                  <a:schemeClr val="tx2"/>
                </a:solidFill>
              </a:rPr>
              <a:t>time order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b="1" dirty="0">
                <a:solidFill>
                  <a:schemeClr val="tx2"/>
                </a:solidFill>
              </a:rPr>
              <a:t>Prevents data leakage </a:t>
            </a:r>
            <a:r>
              <a:rPr lang="en-US" sz="1800" dirty="0">
                <a:solidFill>
                  <a:schemeClr val="tx2"/>
                </a:solidFill>
              </a:rPr>
              <a:t>during CV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D789ECE-50A3-4E61-F625-5AB205349B60}"/>
              </a:ext>
            </a:extLst>
          </p:cNvPr>
          <p:cNvCxnSpPr/>
          <p:nvPr/>
        </p:nvCxnSpPr>
        <p:spPr>
          <a:xfrm>
            <a:off x="8439279" y="2987904"/>
            <a:ext cx="109728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7C519-93C6-0A97-54D9-721EF74E76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E60DB72-1D23-46A6-2387-AFD9DA7CD406}"/>
              </a:ext>
            </a:extLst>
          </p:cNvPr>
          <p:cNvCxnSpPr/>
          <p:nvPr/>
        </p:nvCxnSpPr>
        <p:spPr>
          <a:xfrm>
            <a:off x="8987918" y="3574990"/>
            <a:ext cx="54864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E2893-6107-D196-BDC5-15F0D6A9CD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6DA543-EDD4-4EDB-B02E-5A4BDB605B9C}"/>
              </a:ext>
            </a:extLst>
          </p:cNvPr>
          <p:cNvCxnSpPr/>
          <p:nvPr/>
        </p:nvCxnSpPr>
        <p:spPr>
          <a:xfrm>
            <a:off x="1295401" y="1901324"/>
            <a:ext cx="822960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173770-506B-A25B-9A90-66E7BA4A1FBD}"/>
              </a:ext>
            </a:extLst>
          </p:cNvPr>
          <p:cNvCxnSpPr/>
          <p:nvPr/>
        </p:nvCxnSpPr>
        <p:spPr>
          <a:xfrm>
            <a:off x="9525001" y="1901324"/>
            <a:ext cx="914400" cy="0"/>
          </a:xfrm>
          <a:prstGeom prst="line">
            <a:avLst/>
          </a:prstGeom>
          <a:ln w="57150"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4B5458-1EA5-D1D5-C59D-C7CFCFAFA1E2}"/>
              </a:ext>
            </a:extLst>
          </p:cNvPr>
          <p:cNvCxnSpPr/>
          <p:nvPr/>
        </p:nvCxnSpPr>
        <p:spPr>
          <a:xfrm>
            <a:off x="1295401" y="2445584"/>
            <a:ext cx="6583680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B70967-FEB3-7357-7EC3-35B9365E5610}"/>
              </a:ext>
            </a:extLst>
          </p:cNvPr>
          <p:cNvCxnSpPr/>
          <p:nvPr/>
        </p:nvCxnSpPr>
        <p:spPr>
          <a:xfrm>
            <a:off x="7890639" y="2443645"/>
            <a:ext cx="164592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FC18B5-A4A2-B095-F0B3-FBD3A8FE71F0}"/>
              </a:ext>
            </a:extLst>
          </p:cNvPr>
          <p:cNvCxnSpPr/>
          <p:nvPr/>
        </p:nvCxnSpPr>
        <p:spPr>
          <a:xfrm>
            <a:off x="1295400" y="2991571"/>
            <a:ext cx="658368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A667F9-237D-3B3B-4C10-B722058EA2DF}"/>
              </a:ext>
            </a:extLst>
          </p:cNvPr>
          <p:cNvCxnSpPr/>
          <p:nvPr/>
        </p:nvCxnSpPr>
        <p:spPr>
          <a:xfrm>
            <a:off x="7890639" y="2987904"/>
            <a:ext cx="548640" cy="0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F00310-8A67-689A-EAF3-86191A06EA64}"/>
              </a:ext>
            </a:extLst>
          </p:cNvPr>
          <p:cNvCxnSpPr/>
          <p:nvPr/>
        </p:nvCxnSpPr>
        <p:spPr>
          <a:xfrm>
            <a:off x="1844040" y="3579868"/>
            <a:ext cx="658368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BCA619-72AE-BF0E-55A8-AD2458405C72}"/>
              </a:ext>
            </a:extLst>
          </p:cNvPr>
          <p:cNvCxnSpPr/>
          <p:nvPr/>
        </p:nvCxnSpPr>
        <p:spPr>
          <a:xfrm>
            <a:off x="8439279" y="3574990"/>
            <a:ext cx="548640" cy="0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2AFB51-800C-0B0C-1B64-6D1CC85B2800}"/>
              </a:ext>
            </a:extLst>
          </p:cNvPr>
          <p:cNvCxnSpPr/>
          <p:nvPr/>
        </p:nvCxnSpPr>
        <p:spPr>
          <a:xfrm>
            <a:off x="2392680" y="4088207"/>
            <a:ext cx="658368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56EE12-E0D6-1C47-12C5-5F3E11B49F5E}"/>
              </a:ext>
            </a:extLst>
          </p:cNvPr>
          <p:cNvCxnSpPr/>
          <p:nvPr/>
        </p:nvCxnSpPr>
        <p:spPr>
          <a:xfrm>
            <a:off x="8987918" y="4086165"/>
            <a:ext cx="548640" cy="0"/>
          </a:xfrm>
          <a:prstGeom prst="line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FE3566-76FF-286A-0BB6-23CBB89B66E1}"/>
              </a:ext>
            </a:extLst>
          </p:cNvPr>
          <p:cNvCxnSpPr/>
          <p:nvPr/>
        </p:nvCxnSpPr>
        <p:spPr>
          <a:xfrm>
            <a:off x="1283124" y="3574990"/>
            <a:ext cx="54864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4B5134E-92BE-7363-A4A4-F03D41D325D3}"/>
              </a:ext>
            </a:extLst>
          </p:cNvPr>
          <p:cNvCxnSpPr/>
          <p:nvPr/>
        </p:nvCxnSpPr>
        <p:spPr>
          <a:xfrm>
            <a:off x="1283124" y="4085144"/>
            <a:ext cx="10972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C43F67E-6F4F-9945-AC48-BC4C1CA03B7D}"/>
              </a:ext>
            </a:extLst>
          </p:cNvPr>
          <p:cNvSpPr txBox="1">
            <a:spLocks/>
          </p:cNvSpPr>
          <p:nvPr/>
        </p:nvSpPr>
        <p:spPr>
          <a:xfrm>
            <a:off x="4266071" y="1689343"/>
            <a:ext cx="2145969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Train-Validation Set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B61611-9500-D3E9-98BB-352AA68C02F5}"/>
              </a:ext>
            </a:extLst>
          </p:cNvPr>
          <p:cNvSpPr txBox="1">
            <a:spLocks/>
          </p:cNvSpPr>
          <p:nvPr/>
        </p:nvSpPr>
        <p:spPr>
          <a:xfrm>
            <a:off x="9057307" y="1689343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Test Set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C894AB7-5D79-62BB-5714-A6BA944EA765}"/>
              </a:ext>
            </a:extLst>
          </p:cNvPr>
          <p:cNvSpPr txBox="1">
            <a:spLocks/>
          </p:cNvSpPr>
          <p:nvPr/>
        </p:nvSpPr>
        <p:spPr>
          <a:xfrm>
            <a:off x="7799198" y="2228000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Validation Set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1ED9F804-C802-7348-FE2D-5443E104B94A}"/>
              </a:ext>
            </a:extLst>
          </p:cNvPr>
          <p:cNvSpPr txBox="1">
            <a:spLocks/>
          </p:cNvSpPr>
          <p:nvPr/>
        </p:nvSpPr>
        <p:spPr>
          <a:xfrm>
            <a:off x="3209502" y="2773122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Fold 1 Train Set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3E7020-96B5-95F0-4684-9CFB05BD46BD}"/>
              </a:ext>
            </a:extLst>
          </p:cNvPr>
          <p:cNvCxnSpPr>
            <a:cxnSpLocks/>
          </p:cNvCxnSpPr>
          <p:nvPr/>
        </p:nvCxnSpPr>
        <p:spPr>
          <a:xfrm>
            <a:off x="1295400" y="1764164"/>
            <a:ext cx="0" cy="27432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BBF061-4980-413F-98E4-EA83EAF8F389}"/>
              </a:ext>
            </a:extLst>
          </p:cNvPr>
          <p:cNvCxnSpPr>
            <a:cxnSpLocks/>
          </p:cNvCxnSpPr>
          <p:nvPr/>
        </p:nvCxnSpPr>
        <p:spPr>
          <a:xfrm>
            <a:off x="10439401" y="1764164"/>
            <a:ext cx="0" cy="274320"/>
          </a:xfrm>
          <a:prstGeom prst="line">
            <a:avLst/>
          </a:prstGeom>
          <a:ln w="57150"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3374ADD-D2F4-AD23-E26D-2564CB81C814}"/>
              </a:ext>
            </a:extLst>
          </p:cNvPr>
          <p:cNvCxnSpPr>
            <a:cxnSpLocks/>
          </p:cNvCxnSpPr>
          <p:nvPr/>
        </p:nvCxnSpPr>
        <p:spPr>
          <a:xfrm>
            <a:off x="1289262" y="2308424"/>
            <a:ext cx="0" cy="27432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4180E9-015C-0996-8276-6F12FAE62334}"/>
              </a:ext>
            </a:extLst>
          </p:cNvPr>
          <p:cNvCxnSpPr>
            <a:cxnSpLocks/>
          </p:cNvCxnSpPr>
          <p:nvPr/>
        </p:nvCxnSpPr>
        <p:spPr>
          <a:xfrm>
            <a:off x="9536559" y="2305623"/>
            <a:ext cx="0" cy="27432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058C958-DE35-D5AC-D25D-D79D21925C63}"/>
              </a:ext>
            </a:extLst>
          </p:cNvPr>
          <p:cNvCxnSpPr>
            <a:cxnSpLocks/>
          </p:cNvCxnSpPr>
          <p:nvPr/>
        </p:nvCxnSpPr>
        <p:spPr>
          <a:xfrm>
            <a:off x="1283124" y="2852907"/>
            <a:ext cx="0" cy="27432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113066-7BF6-2155-E52A-811FDFBA1318}"/>
              </a:ext>
            </a:extLst>
          </p:cNvPr>
          <p:cNvCxnSpPr>
            <a:cxnSpLocks/>
          </p:cNvCxnSpPr>
          <p:nvPr/>
        </p:nvCxnSpPr>
        <p:spPr>
          <a:xfrm>
            <a:off x="8439279" y="2850744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E1EFF68-6199-3877-B843-1BD956488F82}"/>
              </a:ext>
            </a:extLst>
          </p:cNvPr>
          <p:cNvCxnSpPr>
            <a:cxnSpLocks/>
          </p:cNvCxnSpPr>
          <p:nvPr/>
        </p:nvCxnSpPr>
        <p:spPr>
          <a:xfrm>
            <a:off x="1844040" y="3443076"/>
            <a:ext cx="0" cy="27432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2DA1D4F-CB46-5020-2183-CB17CE651A9F}"/>
              </a:ext>
            </a:extLst>
          </p:cNvPr>
          <p:cNvCxnSpPr>
            <a:cxnSpLocks/>
          </p:cNvCxnSpPr>
          <p:nvPr/>
        </p:nvCxnSpPr>
        <p:spPr>
          <a:xfrm>
            <a:off x="8987919" y="3437830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364A7FD-D894-5CAF-50A5-9BC8C1C857A1}"/>
              </a:ext>
            </a:extLst>
          </p:cNvPr>
          <p:cNvCxnSpPr>
            <a:cxnSpLocks/>
          </p:cNvCxnSpPr>
          <p:nvPr/>
        </p:nvCxnSpPr>
        <p:spPr>
          <a:xfrm>
            <a:off x="9536558" y="3952438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4B1809-6FF9-F9FE-B2C8-412A4F0C20D0}"/>
              </a:ext>
            </a:extLst>
          </p:cNvPr>
          <p:cNvCxnSpPr>
            <a:cxnSpLocks/>
          </p:cNvCxnSpPr>
          <p:nvPr/>
        </p:nvCxnSpPr>
        <p:spPr>
          <a:xfrm>
            <a:off x="2383621" y="3952438"/>
            <a:ext cx="0" cy="27432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Brace 64">
            <a:extLst>
              <a:ext uri="{FF2B5EF4-FFF2-40B4-BE49-F238E27FC236}">
                <a16:creationId xmlns:a16="http://schemas.microsoft.com/office/drawing/2014/main" id="{496DE361-1741-E70E-30A9-20AD28DBBD1E}"/>
              </a:ext>
            </a:extLst>
          </p:cNvPr>
          <p:cNvSpPr/>
          <p:nvPr/>
        </p:nvSpPr>
        <p:spPr>
          <a:xfrm>
            <a:off x="9616442" y="2980358"/>
            <a:ext cx="239666" cy="1098259"/>
          </a:xfrm>
          <a:prstGeom prst="rightBrac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0AA5B66-CB93-9F8B-5A4D-E8F10AA4347F}"/>
              </a:ext>
            </a:extLst>
          </p:cNvPr>
          <p:cNvSpPr txBox="1">
            <a:spLocks/>
          </p:cNvSpPr>
          <p:nvPr/>
        </p:nvSpPr>
        <p:spPr>
          <a:xfrm>
            <a:off x="3682606" y="3361418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Fold 2 Train Set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840EC379-4C2F-6A1E-887E-0BECDC6DEB89}"/>
              </a:ext>
            </a:extLst>
          </p:cNvPr>
          <p:cNvSpPr txBox="1">
            <a:spLocks/>
          </p:cNvSpPr>
          <p:nvPr/>
        </p:nvSpPr>
        <p:spPr>
          <a:xfrm>
            <a:off x="4245641" y="3871382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Fold 3 Train Set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83F22C48-CFC7-4799-5A7A-03CF545DE712}"/>
              </a:ext>
            </a:extLst>
          </p:cNvPr>
          <p:cNvSpPr txBox="1">
            <a:spLocks/>
          </p:cNvSpPr>
          <p:nvPr/>
        </p:nvSpPr>
        <p:spPr>
          <a:xfrm>
            <a:off x="9810879" y="3422095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3-fold CV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DEA44A-0FCA-7E75-9C92-E7F3D50959FB}"/>
              </a:ext>
            </a:extLst>
          </p:cNvPr>
          <p:cNvCxnSpPr>
            <a:cxnSpLocks/>
          </p:cNvCxnSpPr>
          <p:nvPr/>
        </p:nvCxnSpPr>
        <p:spPr>
          <a:xfrm>
            <a:off x="9525001" y="1764164"/>
            <a:ext cx="0" cy="274320"/>
          </a:xfrm>
          <a:prstGeom prst="line">
            <a:avLst/>
          </a:prstGeom>
          <a:ln w="38100"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748E3C7-D492-5184-D00D-F2837FBD11A4}"/>
              </a:ext>
            </a:extLst>
          </p:cNvPr>
          <p:cNvCxnSpPr>
            <a:cxnSpLocks/>
          </p:cNvCxnSpPr>
          <p:nvPr/>
        </p:nvCxnSpPr>
        <p:spPr>
          <a:xfrm>
            <a:off x="7890639" y="2308424"/>
            <a:ext cx="0" cy="27432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46A725EB-705B-8E74-C4BC-6FE916DBD983}"/>
              </a:ext>
            </a:extLst>
          </p:cNvPr>
          <p:cNvSpPr txBox="1">
            <a:spLocks/>
          </p:cNvSpPr>
          <p:nvPr/>
        </p:nvSpPr>
        <p:spPr>
          <a:xfrm>
            <a:off x="7250558" y="2765575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Val.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58D837-AF1C-9957-9092-6BF0E6B8E5CA}"/>
              </a:ext>
            </a:extLst>
          </p:cNvPr>
          <p:cNvCxnSpPr>
            <a:cxnSpLocks/>
          </p:cNvCxnSpPr>
          <p:nvPr/>
        </p:nvCxnSpPr>
        <p:spPr>
          <a:xfrm>
            <a:off x="7879080" y="2850744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9BCD5D4-1270-620A-87E0-31AA4F3FA529}"/>
              </a:ext>
            </a:extLst>
          </p:cNvPr>
          <p:cNvCxnSpPr>
            <a:cxnSpLocks/>
          </p:cNvCxnSpPr>
          <p:nvPr/>
        </p:nvCxnSpPr>
        <p:spPr>
          <a:xfrm>
            <a:off x="8441733" y="3437830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F06D42FD-91FA-FDFD-6687-144A281B97DE}"/>
              </a:ext>
            </a:extLst>
          </p:cNvPr>
          <p:cNvSpPr txBox="1">
            <a:spLocks/>
          </p:cNvSpPr>
          <p:nvPr/>
        </p:nvSpPr>
        <p:spPr>
          <a:xfrm>
            <a:off x="7799198" y="3366265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Val.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9FA81F3-43C6-E4A9-C28C-0571C30394EC}"/>
              </a:ext>
            </a:extLst>
          </p:cNvPr>
          <p:cNvCxnSpPr>
            <a:cxnSpLocks/>
          </p:cNvCxnSpPr>
          <p:nvPr/>
        </p:nvCxnSpPr>
        <p:spPr>
          <a:xfrm>
            <a:off x="8976360" y="3952438"/>
            <a:ext cx="0" cy="274320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68EBFEFC-8996-4264-AD43-EF4BF9872BF5}"/>
              </a:ext>
            </a:extLst>
          </p:cNvPr>
          <p:cNvSpPr txBox="1">
            <a:spLocks/>
          </p:cNvSpPr>
          <p:nvPr/>
        </p:nvSpPr>
        <p:spPr>
          <a:xfrm>
            <a:off x="8347837" y="3870361"/>
            <a:ext cx="1828801" cy="2147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/>
              <a:t>Val.</a:t>
            </a:r>
          </a:p>
        </p:txBody>
      </p:sp>
    </p:spTree>
    <p:extLst>
      <p:ext uri="{BB962C8B-B14F-4D97-AF65-F5344CB8AC3E}">
        <p14:creationId xmlns:p14="http://schemas.microsoft.com/office/powerpoint/2010/main" val="3545467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3FD5-DE11-0D15-1D42-79340F98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379C-D7DB-F441-4728-30C16DCB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Modeling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F4E95-B7DF-F85B-23C1-90B03D4CBB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7C6B-2F5A-374B-6E25-F8CDC8CE5B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5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564F-FE04-C55F-D4AE-1C61A289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AA3F-1860-9896-B7BE-E40A3003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Machine Learning Models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9F9E1-92BF-6E7E-DEA6-46F4C0B1B1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1FD2F-52DE-6C7C-23EF-0A494A04EF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3C3E68A-3E2E-C3F1-85C4-775F965FCD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0429857"/>
                  </p:ext>
                </p:extLst>
              </p:nvPr>
            </p:nvGraphicFramePr>
            <p:xfrm>
              <a:off x="130696" y="1466395"/>
              <a:ext cx="11930607" cy="46515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2837">
                      <a:extLst>
                        <a:ext uri="{9D8B030D-6E8A-4147-A177-3AD203B41FA5}">
                          <a16:colId xmlns:a16="http://schemas.microsoft.com/office/drawing/2014/main" val="1879176776"/>
                        </a:ext>
                      </a:extLst>
                    </a:gridCol>
                    <a:gridCol w="5188885">
                      <a:extLst>
                        <a:ext uri="{9D8B030D-6E8A-4147-A177-3AD203B41FA5}">
                          <a16:colId xmlns:a16="http://schemas.microsoft.com/office/drawing/2014/main" val="3373769243"/>
                        </a:ext>
                      </a:extLst>
                    </a:gridCol>
                    <a:gridCol w="5188885">
                      <a:extLst>
                        <a:ext uri="{9D8B030D-6E8A-4147-A177-3AD203B41FA5}">
                          <a16:colId xmlns:a16="http://schemas.microsoft.com/office/drawing/2014/main" val="842316655"/>
                        </a:ext>
                      </a:extLst>
                    </a:gridCol>
                  </a:tblGrid>
                  <a:tr h="862457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Support Vector Regression (SVR)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Gradient Boosting Regression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10792"/>
                      </a:ext>
                    </a:extLst>
                  </a:tr>
                  <a:tr h="8624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Model Formula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.,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||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lit/>
                                          </m:r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solidFill>
                                                  <a:schemeClr val="tx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1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6673333"/>
                      </a:ext>
                    </a:extLst>
                  </a:tr>
                  <a:tr h="8624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Key Hyper-parameters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0,∞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model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complexity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0,∞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regularization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≥1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number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trees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depth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≥1</m:t>
                                    </m:r>
                                  </m:sub>
                                </m:sSub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maximum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depth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tree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learning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rate</m:t>
                                </m:r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0,∞</m:t>
                                    </m:r>
                                  </m:e>
                                </m:d>
                                <m:r>
                                  <a:rPr lang="en-US" sz="1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step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size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shrinkage</m:t>
                                </m:r>
                              </m:oMath>
                            </m:oMathPara>
                          </a14:m>
                          <a:endParaRPr lang="en-US" sz="1800" b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953618"/>
                      </a:ext>
                    </a:extLst>
                  </a:tr>
                  <a:tr h="11633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Notes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Radial basis function (RBF) kernel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handles nonlinear dependencies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Robust to outliers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Built-in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regularization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Extreme (</a:t>
                          </a:r>
                          <a:r>
                            <a:rPr lang="en-US" sz="1800" b="0" dirty="0" err="1">
                              <a:solidFill>
                                <a:schemeClr val="tx2"/>
                              </a:solidFill>
                            </a:rPr>
                            <a:t>XGBoost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), Light (LGBM), Categorical (</a:t>
                          </a:r>
                          <a:r>
                            <a:rPr lang="en-US" sz="1800" b="0" dirty="0" err="1">
                              <a:solidFill>
                                <a:schemeClr val="tx2"/>
                              </a:solidFill>
                            </a:rPr>
                            <a:t>CatBoost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Sequential learning from boosting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Handles nonlinear dependencies</a:t>
                          </a:r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Built-in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regularization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Scales better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 for large datasets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5550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13C3E68A-3E2E-C3F1-85C4-775F965FCD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0429857"/>
                  </p:ext>
                </p:extLst>
              </p:nvPr>
            </p:nvGraphicFramePr>
            <p:xfrm>
              <a:off x="130696" y="1466395"/>
              <a:ext cx="11930607" cy="46515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2837">
                      <a:extLst>
                        <a:ext uri="{9D8B030D-6E8A-4147-A177-3AD203B41FA5}">
                          <a16:colId xmlns:a16="http://schemas.microsoft.com/office/drawing/2014/main" val="1879176776"/>
                        </a:ext>
                      </a:extLst>
                    </a:gridCol>
                    <a:gridCol w="5188885">
                      <a:extLst>
                        <a:ext uri="{9D8B030D-6E8A-4147-A177-3AD203B41FA5}">
                          <a16:colId xmlns:a16="http://schemas.microsoft.com/office/drawing/2014/main" val="3373769243"/>
                        </a:ext>
                      </a:extLst>
                    </a:gridCol>
                    <a:gridCol w="5188885">
                      <a:extLst>
                        <a:ext uri="{9D8B030D-6E8A-4147-A177-3AD203B41FA5}">
                          <a16:colId xmlns:a16="http://schemas.microsoft.com/office/drawing/2014/main" val="842316655"/>
                        </a:ext>
                      </a:extLst>
                    </a:gridCol>
                  </a:tblGrid>
                  <a:tr h="862457">
                    <a:tc>
                      <a:txBody>
                        <a:bodyPr/>
                        <a:lstStyle/>
                        <a:p>
                          <a:pPr algn="ctr"/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Support Vector Regression (SVR)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Font typeface="Wingdings" pitchFamily="2" charset="2"/>
                            <a:buNone/>
                          </a:pPr>
                          <a:r>
                            <a:rPr lang="en-US" sz="1800" b="1">
                              <a:solidFill>
                                <a:schemeClr val="tx2"/>
                              </a:solidFill>
                            </a:rPr>
                            <a:t>Gradient Boosting Regression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10792"/>
                      </a:ext>
                    </a:extLst>
                  </a:tr>
                  <a:tr h="11373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Model Formula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29" t="-75556" r="-100244" b="-24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9829" t="-75556" r="-244" b="-24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667333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Key Hyper-parameters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29" t="-219444" r="-100244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9829" t="-219444" r="-244" b="-2013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3953618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chemeClr val="tx2"/>
                              </a:solidFill>
                            </a:rPr>
                            <a:t>Notes</a:t>
                          </a:r>
                        </a:p>
                      </a:txBody>
                      <a:tcPr marL="45720" marR="45720"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Radial basis function (RBF) kernel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handles nonlinear dependencies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Robust to outliers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Built-in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regularization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Extreme (</a:t>
                          </a:r>
                          <a:r>
                            <a:rPr lang="en-US" sz="1800" b="0" dirty="0" err="1">
                              <a:solidFill>
                                <a:schemeClr val="tx2"/>
                              </a:solidFill>
                            </a:rPr>
                            <a:t>XGBoost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), Light (LGBM), Categorical (</a:t>
                          </a:r>
                          <a:r>
                            <a:rPr lang="en-US" sz="1800" b="0" dirty="0" err="1">
                              <a:solidFill>
                                <a:schemeClr val="tx2"/>
                              </a:solidFill>
                            </a:rPr>
                            <a:t>CatBoost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)</a:t>
                          </a:r>
                        </a:p>
                        <a:p>
                          <a:pPr marL="342900" indent="-342900">
                            <a:buFont typeface="Wingdings" pitchFamily="2" charset="2"/>
                            <a:buChar char="q"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Sequential learning from boosting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Handles nonlinear dependencies</a:t>
                          </a:r>
                          <a:endParaRPr lang="en-US" sz="1800" b="0" dirty="0">
                            <a:solidFill>
                              <a:schemeClr val="tx2"/>
                            </a:solidFill>
                          </a:endParaRP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Built-in </a:t>
                          </a: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regularization</a:t>
                          </a:r>
                        </a:p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itchFamily="2" charset="2"/>
                            <a:buChar char="q"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2"/>
                              </a:solidFill>
                            </a:rPr>
                            <a:t>Scales better</a:t>
                          </a:r>
                          <a:r>
                            <a:rPr lang="en-US" sz="1800" b="0" dirty="0">
                              <a:solidFill>
                                <a:schemeClr val="tx2"/>
                              </a:solidFill>
                            </a:rPr>
                            <a:t> for large datasets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35550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591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ADD9-415F-B553-B50B-44976FF1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A5A8-893D-8EFF-5DD7-E390FB02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Deep Learning Models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78D31-CA0E-3C62-7390-54F183F8DA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C350CD5-A6CE-F1F9-37D6-3D08B87F8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744167"/>
              </p:ext>
            </p:extLst>
          </p:nvPr>
        </p:nvGraphicFramePr>
        <p:xfrm>
          <a:off x="140690" y="1466395"/>
          <a:ext cx="11934054" cy="4306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8018">
                  <a:extLst>
                    <a:ext uri="{9D8B030D-6E8A-4147-A177-3AD203B41FA5}">
                      <a16:colId xmlns:a16="http://schemas.microsoft.com/office/drawing/2014/main" val="3373769243"/>
                    </a:ext>
                  </a:extLst>
                </a:gridCol>
                <a:gridCol w="3978018">
                  <a:extLst>
                    <a:ext uri="{9D8B030D-6E8A-4147-A177-3AD203B41FA5}">
                      <a16:colId xmlns:a16="http://schemas.microsoft.com/office/drawing/2014/main" val="842316655"/>
                    </a:ext>
                  </a:extLst>
                </a:gridCol>
                <a:gridCol w="3978018">
                  <a:extLst>
                    <a:ext uri="{9D8B030D-6E8A-4147-A177-3AD203B41FA5}">
                      <a16:colId xmlns:a16="http://schemas.microsoft.com/office/drawing/2014/main" val="107286350"/>
                    </a:ext>
                  </a:extLst>
                </a:gridCol>
              </a:tblGrid>
              <a:tr h="8624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Long Short-Term Memory (LSTM) 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Gated Recurrent Unit (GRU) 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Convolutional Neural Network (CNN) + LSTM 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10792"/>
                  </a:ext>
                </a:extLst>
              </a:tr>
              <a:tr h="862457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3 gates 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per cell: input, forget, output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Good for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long temporal dependencies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Captures nonlinear relationships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2 gates per cell: update, reset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Simplified LSTM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Faster training 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&amp; 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fewer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 parameters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Good for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moderately-long temporal dependencies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Compress / </a:t>
                      </a: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extract local patterns</a:t>
                      </a: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 before LSTM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Capture </a:t>
                      </a: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short-term temporal dependencies </a:t>
                      </a: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(CNN) alongside long-term ones (LSTM)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73333"/>
                  </a:ext>
                </a:extLst>
              </a:tr>
              <a:tr h="862457">
                <a:tc>
                  <a:txBody>
                    <a:bodyPr/>
                    <a:lstStyle/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endParaRPr lang="en-US" sz="1600" b="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sz="1200" b="0" i="1">
                          <a:solidFill>
                            <a:schemeClr val="tx2"/>
                          </a:solidFill>
                        </a:rPr>
                        <a:t>Simplified process within an LSTM cell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200" b="0" i="1" dirty="0">
                          <a:solidFill>
                            <a:schemeClr val="tx2"/>
                          </a:solidFill>
                        </a:rPr>
                        <a:t>Simplified process within a GRU cell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600" b="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200" b="0" i="1" dirty="0">
                          <a:solidFill>
                            <a:schemeClr val="tx2"/>
                          </a:solidFill>
                        </a:rPr>
                        <a:t>Simplified process within a 1D CNN layer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953618"/>
                  </a:ext>
                </a:extLst>
              </a:tr>
            </a:tbl>
          </a:graphicData>
        </a:graphic>
      </p:graphicFrame>
      <p:sp>
        <p:nvSpPr>
          <p:cNvPr id="1059" name="Rectangle 1058">
            <a:extLst>
              <a:ext uri="{FF2B5EF4-FFF2-40B4-BE49-F238E27FC236}">
                <a16:creationId xmlns:a16="http://schemas.microsoft.com/office/drawing/2014/main" id="{9B2680EA-174E-9050-A6F6-11E51056B1A4}"/>
              </a:ext>
            </a:extLst>
          </p:cNvPr>
          <p:cNvSpPr/>
          <p:nvPr/>
        </p:nvSpPr>
        <p:spPr>
          <a:xfrm>
            <a:off x="904199" y="3970742"/>
            <a:ext cx="256032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ounded Rectangle 1059">
            <a:extLst>
              <a:ext uri="{FF2B5EF4-FFF2-40B4-BE49-F238E27FC236}">
                <a16:creationId xmlns:a16="http://schemas.microsoft.com/office/drawing/2014/main" id="{CDA21DE0-358B-21C7-E3B6-780DE4F25A95}"/>
              </a:ext>
            </a:extLst>
          </p:cNvPr>
          <p:cNvSpPr/>
          <p:nvPr/>
        </p:nvSpPr>
        <p:spPr>
          <a:xfrm>
            <a:off x="1055115" y="4947544"/>
            <a:ext cx="365760" cy="1828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sig</a:t>
            </a:r>
          </a:p>
        </p:txBody>
      </p:sp>
      <p:sp>
        <p:nvSpPr>
          <p:cNvPr id="1061" name="Rounded Rectangle 1060">
            <a:extLst>
              <a:ext uri="{FF2B5EF4-FFF2-40B4-BE49-F238E27FC236}">
                <a16:creationId xmlns:a16="http://schemas.microsoft.com/office/drawing/2014/main" id="{24CEE0E6-5C1D-C90F-8D3C-5EB46ACBEE67}"/>
              </a:ext>
            </a:extLst>
          </p:cNvPr>
          <p:cNvSpPr/>
          <p:nvPr/>
        </p:nvSpPr>
        <p:spPr>
          <a:xfrm>
            <a:off x="2106275" y="4947544"/>
            <a:ext cx="365760" cy="1828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tanh</a:t>
            </a:r>
          </a:p>
        </p:txBody>
      </p:sp>
      <p:sp>
        <p:nvSpPr>
          <p:cNvPr id="1062" name="Rounded Rectangle 1061">
            <a:extLst>
              <a:ext uri="{FF2B5EF4-FFF2-40B4-BE49-F238E27FC236}">
                <a16:creationId xmlns:a16="http://schemas.microsoft.com/office/drawing/2014/main" id="{369014C6-9337-C2D5-7BE6-6ECE37C6B83F}"/>
              </a:ext>
            </a:extLst>
          </p:cNvPr>
          <p:cNvSpPr/>
          <p:nvPr/>
        </p:nvSpPr>
        <p:spPr>
          <a:xfrm>
            <a:off x="1580695" y="4947544"/>
            <a:ext cx="365760" cy="1828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sig</a:t>
            </a:r>
          </a:p>
        </p:txBody>
      </p:sp>
      <p:sp>
        <p:nvSpPr>
          <p:cNvPr id="1063" name="Rounded Rectangle 1062">
            <a:extLst>
              <a:ext uri="{FF2B5EF4-FFF2-40B4-BE49-F238E27FC236}">
                <a16:creationId xmlns:a16="http://schemas.microsoft.com/office/drawing/2014/main" id="{892265D2-4E49-7214-A23C-18E9DE73B4D4}"/>
              </a:ext>
            </a:extLst>
          </p:cNvPr>
          <p:cNvSpPr/>
          <p:nvPr/>
        </p:nvSpPr>
        <p:spPr>
          <a:xfrm>
            <a:off x="2631855" y="4947544"/>
            <a:ext cx="365760" cy="1828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sig</a:t>
            </a:r>
          </a:p>
        </p:txBody>
      </p:sp>
      <p:sp>
        <p:nvSpPr>
          <p:cNvPr id="1064" name="Rounded Rectangle 1063">
            <a:extLst>
              <a:ext uri="{FF2B5EF4-FFF2-40B4-BE49-F238E27FC236}">
                <a16:creationId xmlns:a16="http://schemas.microsoft.com/office/drawing/2014/main" id="{B108D7ED-0F77-0F14-0DA1-5BEBED7EF74D}"/>
              </a:ext>
            </a:extLst>
          </p:cNvPr>
          <p:cNvSpPr/>
          <p:nvPr/>
        </p:nvSpPr>
        <p:spPr>
          <a:xfrm>
            <a:off x="2631855" y="4307464"/>
            <a:ext cx="365760" cy="1828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tanh</a:t>
            </a: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7E814F42-D25F-1BC5-A54D-5837B74675DE}"/>
              </a:ext>
            </a:extLst>
          </p:cNvPr>
          <p:cNvSpPr/>
          <p:nvPr/>
        </p:nvSpPr>
        <p:spPr>
          <a:xfrm>
            <a:off x="2723295" y="4624999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066" name="Oval 1065">
            <a:extLst>
              <a:ext uri="{FF2B5EF4-FFF2-40B4-BE49-F238E27FC236}">
                <a16:creationId xmlns:a16="http://schemas.microsoft.com/office/drawing/2014/main" id="{313F8A19-D842-42C4-07E1-161A5F15EEAF}"/>
              </a:ext>
            </a:extLst>
          </p:cNvPr>
          <p:cNvSpPr/>
          <p:nvPr/>
        </p:nvSpPr>
        <p:spPr>
          <a:xfrm>
            <a:off x="2197715" y="4490344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A8A86CD5-3F27-9C39-EE54-D47A5926537D}"/>
              </a:ext>
            </a:extLst>
          </p:cNvPr>
          <p:cNvSpPr/>
          <p:nvPr/>
        </p:nvSpPr>
        <p:spPr>
          <a:xfrm>
            <a:off x="2197715" y="4114986"/>
            <a:ext cx="182880" cy="18288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3A10FE84-C144-435D-579D-27277739ACC3}"/>
              </a:ext>
            </a:extLst>
          </p:cNvPr>
          <p:cNvSpPr/>
          <p:nvPr/>
        </p:nvSpPr>
        <p:spPr>
          <a:xfrm>
            <a:off x="1146555" y="4114986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99B14DD6-D5B6-D959-E2BF-A4660996762C}"/>
              </a:ext>
            </a:extLst>
          </p:cNvPr>
          <p:cNvCxnSpPr>
            <a:cxnSpLocks/>
            <a:stCxn id="1061" idx="0"/>
            <a:endCxn id="1066" idx="4"/>
          </p:cNvCxnSpPr>
          <p:nvPr/>
        </p:nvCxnSpPr>
        <p:spPr>
          <a:xfrm flipV="1">
            <a:off x="2289155" y="4673224"/>
            <a:ext cx="0" cy="274320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35DBD3F0-4408-CF15-DE64-2035CA49B612}"/>
              </a:ext>
            </a:extLst>
          </p:cNvPr>
          <p:cNvCxnSpPr>
            <a:cxnSpLocks/>
            <a:stCxn id="1066" idx="0"/>
            <a:endCxn id="1068" idx="4"/>
          </p:cNvCxnSpPr>
          <p:nvPr/>
        </p:nvCxnSpPr>
        <p:spPr>
          <a:xfrm flipV="1">
            <a:off x="2289155" y="4297866"/>
            <a:ext cx="0" cy="192478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7C20D8FC-8D85-D149-415F-C99C9C59E3C0}"/>
              </a:ext>
            </a:extLst>
          </p:cNvPr>
          <p:cNvCxnSpPr>
            <a:cxnSpLocks/>
            <a:stCxn id="1060" idx="0"/>
            <a:endCxn id="1069" idx="4"/>
          </p:cNvCxnSpPr>
          <p:nvPr/>
        </p:nvCxnSpPr>
        <p:spPr>
          <a:xfrm flipV="1">
            <a:off x="1237995" y="4297866"/>
            <a:ext cx="0" cy="649678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Elbow Connector 1077">
            <a:extLst>
              <a:ext uri="{FF2B5EF4-FFF2-40B4-BE49-F238E27FC236}">
                <a16:creationId xmlns:a16="http://schemas.microsoft.com/office/drawing/2014/main" id="{33A48FE1-C808-C2F6-EC48-AFC35C738313}"/>
              </a:ext>
            </a:extLst>
          </p:cNvPr>
          <p:cNvCxnSpPr>
            <a:cxnSpLocks/>
            <a:stCxn id="1062" idx="0"/>
            <a:endCxn id="1066" idx="2"/>
          </p:cNvCxnSpPr>
          <p:nvPr/>
        </p:nvCxnSpPr>
        <p:spPr>
          <a:xfrm rot="5400000" flipH="1" flipV="1">
            <a:off x="1797765" y="4547594"/>
            <a:ext cx="365760" cy="434140"/>
          </a:xfrm>
          <a:prstGeom prst="bentConnector2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Elbow Connector 1078">
            <a:extLst>
              <a:ext uri="{FF2B5EF4-FFF2-40B4-BE49-F238E27FC236}">
                <a16:creationId xmlns:a16="http://schemas.microsoft.com/office/drawing/2014/main" id="{3BC7FD66-94F8-6FCC-51D7-99BCA1723C7D}"/>
              </a:ext>
            </a:extLst>
          </p:cNvPr>
          <p:cNvCxnSpPr>
            <a:cxnSpLocks/>
            <a:stCxn id="1065" idx="6"/>
          </p:cNvCxnSpPr>
          <p:nvPr/>
        </p:nvCxnSpPr>
        <p:spPr>
          <a:xfrm>
            <a:off x="2906175" y="4716439"/>
            <a:ext cx="772889" cy="558228"/>
          </a:xfrm>
          <a:prstGeom prst="bentConnector3">
            <a:avLst>
              <a:gd name="adj1" fmla="val 33630"/>
            </a:avLst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CFF69D70-F4D2-66D0-6F88-CE941B2BF29E}"/>
              </a:ext>
            </a:extLst>
          </p:cNvPr>
          <p:cNvCxnSpPr>
            <a:cxnSpLocks/>
            <a:stCxn id="1063" idx="0"/>
            <a:endCxn id="1065" idx="4"/>
          </p:cNvCxnSpPr>
          <p:nvPr/>
        </p:nvCxnSpPr>
        <p:spPr>
          <a:xfrm flipV="1">
            <a:off x="2814735" y="4807879"/>
            <a:ext cx="0" cy="139665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Arrow Connector 1080">
            <a:extLst>
              <a:ext uri="{FF2B5EF4-FFF2-40B4-BE49-F238E27FC236}">
                <a16:creationId xmlns:a16="http://schemas.microsoft.com/office/drawing/2014/main" id="{3A49BC65-255F-1A0B-7488-E208C444E434}"/>
              </a:ext>
            </a:extLst>
          </p:cNvPr>
          <p:cNvCxnSpPr>
            <a:cxnSpLocks/>
            <a:stCxn id="1064" idx="2"/>
            <a:endCxn id="1065" idx="0"/>
          </p:cNvCxnSpPr>
          <p:nvPr/>
        </p:nvCxnSpPr>
        <p:spPr>
          <a:xfrm>
            <a:off x="2814735" y="4490344"/>
            <a:ext cx="0" cy="134655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Arrow Connector 1081">
            <a:extLst>
              <a:ext uri="{FF2B5EF4-FFF2-40B4-BE49-F238E27FC236}">
                <a16:creationId xmlns:a16="http://schemas.microsoft.com/office/drawing/2014/main" id="{54A4888E-3A80-A591-A3A3-311BF8A82FD6}"/>
              </a:ext>
            </a:extLst>
          </p:cNvPr>
          <p:cNvCxnSpPr>
            <a:cxnSpLocks/>
            <a:stCxn id="1068" idx="6"/>
          </p:cNvCxnSpPr>
          <p:nvPr/>
        </p:nvCxnSpPr>
        <p:spPr>
          <a:xfrm>
            <a:off x="2380595" y="4206426"/>
            <a:ext cx="1298469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4" name="Rounded Rectangle 1083">
            <a:extLst>
              <a:ext uri="{FF2B5EF4-FFF2-40B4-BE49-F238E27FC236}">
                <a16:creationId xmlns:a16="http://schemas.microsoft.com/office/drawing/2014/main" id="{79A3C72F-7B12-5912-D37C-C127846C9B14}"/>
              </a:ext>
            </a:extLst>
          </p:cNvPr>
          <p:cNvSpPr/>
          <p:nvPr/>
        </p:nvSpPr>
        <p:spPr>
          <a:xfrm>
            <a:off x="983490" y="4438456"/>
            <a:ext cx="505766" cy="883959"/>
          </a:xfrm>
          <a:prstGeom prst="roundRect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ounded Rectangle 1084">
            <a:extLst>
              <a:ext uri="{FF2B5EF4-FFF2-40B4-BE49-F238E27FC236}">
                <a16:creationId xmlns:a16="http://schemas.microsoft.com/office/drawing/2014/main" id="{A450CF03-7390-5AB1-4FD8-7A0389F3BC84}"/>
              </a:ext>
            </a:extLst>
          </p:cNvPr>
          <p:cNvSpPr/>
          <p:nvPr/>
        </p:nvSpPr>
        <p:spPr>
          <a:xfrm>
            <a:off x="1530505" y="4438454"/>
            <a:ext cx="1009909" cy="883963"/>
          </a:xfrm>
          <a:prstGeom prst="roundRect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ounded Rectangle 1085">
            <a:extLst>
              <a:ext uri="{FF2B5EF4-FFF2-40B4-BE49-F238E27FC236}">
                <a16:creationId xmlns:a16="http://schemas.microsoft.com/office/drawing/2014/main" id="{9C22AE90-ECA2-23C2-F0D6-A30E9E8A0548}"/>
              </a:ext>
            </a:extLst>
          </p:cNvPr>
          <p:cNvSpPr/>
          <p:nvPr/>
        </p:nvSpPr>
        <p:spPr>
          <a:xfrm>
            <a:off x="2581665" y="4142528"/>
            <a:ext cx="758648" cy="1179890"/>
          </a:xfrm>
          <a:prstGeom prst="roundRect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12" name="Table 1111">
            <a:extLst>
              <a:ext uri="{FF2B5EF4-FFF2-40B4-BE49-F238E27FC236}">
                <a16:creationId xmlns:a16="http://schemas.microsoft.com/office/drawing/2014/main" id="{D1AE2C64-9080-3ADB-DF47-ED9614FB5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00663"/>
              </p:ext>
            </p:extLst>
          </p:nvPr>
        </p:nvGraphicFramePr>
        <p:xfrm>
          <a:off x="8790567" y="4499364"/>
          <a:ext cx="2560320" cy="33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">
                  <a:extLst>
                    <a:ext uri="{9D8B030D-6E8A-4147-A177-3AD203B41FA5}">
                      <a16:colId xmlns:a16="http://schemas.microsoft.com/office/drawing/2014/main" val="406801697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21787025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647046138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4188496148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54973211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735741614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227348477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3858150217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203021620"/>
                    </a:ext>
                  </a:extLst>
                </a:gridCol>
              </a:tblGrid>
              <a:tr h="275317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x</a:t>
                      </a:r>
                      <a:r>
                        <a:rPr lang="en-US" sz="1600" b="0" i="1" baseline="-25000"/>
                        <a:t>1</a:t>
                      </a:r>
                      <a:endParaRPr lang="en-US" sz="1600" b="0" i="1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x</a:t>
                      </a:r>
                      <a:r>
                        <a:rPr lang="en-US" sz="1600" b="0" i="1" baseline="-25000"/>
                        <a:t>2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x</a:t>
                      </a:r>
                      <a:r>
                        <a:rPr lang="en-US" sz="1600" b="0" i="1" baseline="-25000"/>
                        <a:t>3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x</a:t>
                      </a:r>
                      <a:r>
                        <a:rPr lang="en-US" sz="1600" b="0" i="1" baseline="-25000"/>
                        <a:t>4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…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…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…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…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err="1"/>
                        <a:t>x</a:t>
                      </a:r>
                      <a:r>
                        <a:rPr lang="en-US" sz="1600" b="0" i="1" baseline="-25000" err="1"/>
                        <a:t>p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86898"/>
                  </a:ext>
                </a:extLst>
              </a:tr>
            </a:tbl>
          </a:graphicData>
        </a:graphic>
      </p:graphicFrame>
      <p:graphicFrame>
        <p:nvGraphicFramePr>
          <p:cNvPr id="1113" name="Table 1112">
            <a:extLst>
              <a:ext uri="{FF2B5EF4-FFF2-40B4-BE49-F238E27FC236}">
                <a16:creationId xmlns:a16="http://schemas.microsoft.com/office/drawing/2014/main" id="{011C1B90-39F7-7110-8B1F-166EB3C21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910725"/>
              </p:ext>
            </p:extLst>
          </p:nvPr>
        </p:nvGraphicFramePr>
        <p:xfrm>
          <a:off x="8797023" y="3970742"/>
          <a:ext cx="853440" cy="33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">
                  <a:extLst>
                    <a:ext uri="{9D8B030D-6E8A-4147-A177-3AD203B41FA5}">
                      <a16:colId xmlns:a16="http://schemas.microsoft.com/office/drawing/2014/main" val="406801697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21787025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647046138"/>
                    </a:ext>
                  </a:extLst>
                </a:gridCol>
              </a:tblGrid>
              <a:tr h="275317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baseline="0"/>
                        <a:t>w</a:t>
                      </a:r>
                      <a:r>
                        <a:rPr lang="en-US" sz="1600" b="0" i="1" baseline="-25000"/>
                        <a:t>1</a:t>
                      </a:r>
                      <a:endParaRPr lang="en-US" sz="1600" b="0" i="1" baseline="0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baseline="0"/>
                        <a:t>w</a:t>
                      </a:r>
                      <a:r>
                        <a:rPr lang="en-US" sz="1600" b="0" i="1" baseline="-25000"/>
                        <a:t>2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 baseline="0"/>
                        <a:t>w</a:t>
                      </a:r>
                      <a:r>
                        <a:rPr lang="en-US" sz="1600" b="0" i="1" baseline="-25000"/>
                        <a:t>3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86898"/>
                  </a:ext>
                </a:extLst>
              </a:tr>
            </a:tbl>
          </a:graphicData>
        </a:graphic>
      </p:graphicFrame>
      <p:graphicFrame>
        <p:nvGraphicFramePr>
          <p:cNvPr id="1114" name="Table 1113">
            <a:extLst>
              <a:ext uri="{FF2B5EF4-FFF2-40B4-BE49-F238E27FC236}">
                <a16:creationId xmlns:a16="http://schemas.microsoft.com/office/drawing/2014/main" id="{4103DBC4-0DFC-2E1B-EBE4-533FF48FF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11115"/>
              </p:ext>
            </p:extLst>
          </p:nvPr>
        </p:nvGraphicFramePr>
        <p:xfrm>
          <a:off x="9070926" y="5110691"/>
          <a:ext cx="1706880" cy="33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">
                  <a:extLst>
                    <a:ext uri="{9D8B030D-6E8A-4147-A177-3AD203B41FA5}">
                      <a16:colId xmlns:a16="http://schemas.microsoft.com/office/drawing/2014/main" val="406801697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121787025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647046138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4188496148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2549732111"/>
                    </a:ext>
                  </a:extLst>
                </a:gridCol>
                <a:gridCol w="284480">
                  <a:extLst>
                    <a:ext uri="{9D8B030D-6E8A-4147-A177-3AD203B41FA5}">
                      <a16:colId xmlns:a16="http://schemas.microsoft.com/office/drawing/2014/main" val="735741614"/>
                    </a:ext>
                  </a:extLst>
                </a:gridCol>
              </a:tblGrid>
              <a:tr h="275317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c</a:t>
                      </a:r>
                      <a:r>
                        <a:rPr lang="en-US" sz="1600" b="0" i="1" baseline="-25000"/>
                        <a:t>1</a:t>
                      </a:r>
                      <a:endParaRPr lang="en-US" sz="1600" b="0" i="1"/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c</a:t>
                      </a:r>
                      <a:r>
                        <a:rPr lang="en-US" sz="1600" b="0" i="1" baseline="-25000"/>
                        <a:t>2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c</a:t>
                      </a:r>
                      <a:r>
                        <a:rPr lang="en-US" sz="1600" b="0" i="1" baseline="-25000"/>
                        <a:t>3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c</a:t>
                      </a:r>
                      <a:r>
                        <a:rPr lang="en-US" sz="1600" b="0" i="1" baseline="-25000"/>
                        <a:t>4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/>
                        <a:t>…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1"/>
                        <a:t>c</a:t>
                      </a:r>
                      <a:r>
                        <a:rPr lang="en-US" sz="1600" b="0" i="1" baseline="-25000"/>
                        <a:t>s</a:t>
                      </a:r>
                      <a:endParaRPr lang="en-US" sz="1600" i="1"/>
                    </a:p>
                  </a:txBody>
                  <a:tcPr marL="0" marR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86898"/>
                  </a:ext>
                </a:extLst>
              </a:tr>
            </a:tbl>
          </a:graphicData>
        </a:graphic>
      </p:graphicFrame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4D4DEA61-9FD8-9090-CC07-D8814F400416}"/>
              </a:ext>
            </a:extLst>
          </p:cNvPr>
          <p:cNvCxnSpPr/>
          <p:nvPr/>
        </p:nvCxnSpPr>
        <p:spPr>
          <a:xfrm>
            <a:off x="8797023" y="4306022"/>
            <a:ext cx="0" cy="193342"/>
          </a:xfrm>
          <a:prstGeom prst="line">
            <a:avLst/>
          </a:prstGeom>
          <a:ln w="190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BFB413E8-0544-559E-BB1F-21446042069B}"/>
              </a:ext>
            </a:extLst>
          </p:cNvPr>
          <p:cNvCxnSpPr/>
          <p:nvPr/>
        </p:nvCxnSpPr>
        <p:spPr>
          <a:xfrm>
            <a:off x="9651057" y="4311441"/>
            <a:ext cx="0" cy="193342"/>
          </a:xfrm>
          <a:prstGeom prst="line">
            <a:avLst/>
          </a:prstGeom>
          <a:ln w="190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Right Brace 1117">
            <a:extLst>
              <a:ext uri="{FF2B5EF4-FFF2-40B4-BE49-F238E27FC236}">
                <a16:creationId xmlns:a16="http://schemas.microsoft.com/office/drawing/2014/main" id="{99D3E56D-5120-69D1-4C63-3D939108135A}"/>
              </a:ext>
            </a:extLst>
          </p:cNvPr>
          <p:cNvSpPr/>
          <p:nvPr/>
        </p:nvSpPr>
        <p:spPr>
          <a:xfrm rot="5400000">
            <a:off x="9088524" y="4540235"/>
            <a:ext cx="263980" cy="859895"/>
          </a:xfrm>
          <a:prstGeom prst="rightBrac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ight Brace 1118">
            <a:extLst>
              <a:ext uri="{FF2B5EF4-FFF2-40B4-BE49-F238E27FC236}">
                <a16:creationId xmlns:a16="http://schemas.microsoft.com/office/drawing/2014/main" id="{FAF98118-94F5-C7B0-7D5E-DF002251E773}"/>
              </a:ext>
            </a:extLst>
          </p:cNvPr>
          <p:cNvSpPr/>
          <p:nvPr/>
        </p:nvSpPr>
        <p:spPr>
          <a:xfrm rot="5400000">
            <a:off x="9368883" y="4543889"/>
            <a:ext cx="263980" cy="859895"/>
          </a:xfrm>
          <a:prstGeom prst="rightBrace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ight Brace 1119">
            <a:extLst>
              <a:ext uri="{FF2B5EF4-FFF2-40B4-BE49-F238E27FC236}">
                <a16:creationId xmlns:a16="http://schemas.microsoft.com/office/drawing/2014/main" id="{FDC9ECEB-739B-84B8-72FF-B6719B51F1CC}"/>
              </a:ext>
            </a:extLst>
          </p:cNvPr>
          <p:cNvSpPr/>
          <p:nvPr/>
        </p:nvSpPr>
        <p:spPr>
          <a:xfrm rot="5400000">
            <a:off x="9658277" y="4542470"/>
            <a:ext cx="263980" cy="859895"/>
          </a:xfrm>
          <a:prstGeom prst="rightBrace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ight Brace 1120">
            <a:extLst>
              <a:ext uri="{FF2B5EF4-FFF2-40B4-BE49-F238E27FC236}">
                <a16:creationId xmlns:a16="http://schemas.microsoft.com/office/drawing/2014/main" id="{1C1BAEF8-74B7-4419-A104-8833F1468411}"/>
              </a:ext>
            </a:extLst>
          </p:cNvPr>
          <p:cNvSpPr/>
          <p:nvPr/>
        </p:nvSpPr>
        <p:spPr>
          <a:xfrm rot="5400000">
            <a:off x="9948419" y="4540632"/>
            <a:ext cx="263980" cy="859895"/>
          </a:xfrm>
          <a:prstGeom prst="rightBrac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3" name="Straight Arrow Connector 1122">
            <a:extLst>
              <a:ext uri="{FF2B5EF4-FFF2-40B4-BE49-F238E27FC236}">
                <a16:creationId xmlns:a16="http://schemas.microsoft.com/office/drawing/2014/main" id="{3176BA9F-A594-6D14-1D26-BA1E0037514A}"/>
              </a:ext>
            </a:extLst>
          </p:cNvPr>
          <p:cNvCxnSpPr/>
          <p:nvPr/>
        </p:nvCxnSpPr>
        <p:spPr>
          <a:xfrm>
            <a:off x="9650461" y="4138382"/>
            <a:ext cx="1700426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C2490768-8766-10FE-A7E7-13695B01308C}"/>
              </a:ext>
            </a:extLst>
          </p:cNvPr>
          <p:cNvSpPr/>
          <p:nvPr/>
        </p:nvSpPr>
        <p:spPr>
          <a:xfrm>
            <a:off x="4846795" y="3970742"/>
            <a:ext cx="256032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ounded Rectangle 1125">
            <a:extLst>
              <a:ext uri="{FF2B5EF4-FFF2-40B4-BE49-F238E27FC236}">
                <a16:creationId xmlns:a16="http://schemas.microsoft.com/office/drawing/2014/main" id="{745D7934-5092-4EAB-2306-9BB7B94027A9}"/>
              </a:ext>
            </a:extLst>
          </p:cNvPr>
          <p:cNvSpPr/>
          <p:nvPr/>
        </p:nvSpPr>
        <p:spPr>
          <a:xfrm>
            <a:off x="5401973" y="4741103"/>
            <a:ext cx="365760" cy="1828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sig</a:t>
            </a:r>
          </a:p>
        </p:txBody>
      </p:sp>
      <p:sp>
        <p:nvSpPr>
          <p:cNvPr id="1127" name="Rounded Rectangle 1126">
            <a:extLst>
              <a:ext uri="{FF2B5EF4-FFF2-40B4-BE49-F238E27FC236}">
                <a16:creationId xmlns:a16="http://schemas.microsoft.com/office/drawing/2014/main" id="{1C469120-360A-C7C0-4E3B-D15498FA7AB4}"/>
              </a:ext>
            </a:extLst>
          </p:cNvPr>
          <p:cNvSpPr/>
          <p:nvPr/>
        </p:nvSpPr>
        <p:spPr>
          <a:xfrm>
            <a:off x="5944075" y="4923983"/>
            <a:ext cx="365760" cy="1828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sig</a:t>
            </a:r>
          </a:p>
        </p:txBody>
      </p:sp>
      <p:sp>
        <p:nvSpPr>
          <p:cNvPr id="1129" name="Rounded Rectangle 1128">
            <a:extLst>
              <a:ext uri="{FF2B5EF4-FFF2-40B4-BE49-F238E27FC236}">
                <a16:creationId xmlns:a16="http://schemas.microsoft.com/office/drawing/2014/main" id="{9A359DDA-7BB5-66C9-AC2E-0269576C380B}"/>
              </a:ext>
            </a:extLst>
          </p:cNvPr>
          <p:cNvSpPr/>
          <p:nvPr/>
        </p:nvSpPr>
        <p:spPr>
          <a:xfrm>
            <a:off x="6675595" y="4923983"/>
            <a:ext cx="365760" cy="1828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tanh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E08F16E9-B836-9A84-1B12-109DD5047B73}"/>
              </a:ext>
            </a:extLst>
          </p:cNvPr>
          <p:cNvSpPr/>
          <p:nvPr/>
        </p:nvSpPr>
        <p:spPr>
          <a:xfrm>
            <a:off x="5052091" y="4419266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132" name="Oval 1131">
            <a:extLst>
              <a:ext uri="{FF2B5EF4-FFF2-40B4-BE49-F238E27FC236}">
                <a16:creationId xmlns:a16="http://schemas.microsoft.com/office/drawing/2014/main" id="{7905320C-C4D3-1922-092B-1442D923E6A0}"/>
              </a:ext>
            </a:extLst>
          </p:cNvPr>
          <p:cNvSpPr/>
          <p:nvPr/>
        </p:nvSpPr>
        <p:spPr>
          <a:xfrm>
            <a:off x="6767035" y="4541207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134" name="Oval 1133">
            <a:extLst>
              <a:ext uri="{FF2B5EF4-FFF2-40B4-BE49-F238E27FC236}">
                <a16:creationId xmlns:a16="http://schemas.microsoft.com/office/drawing/2014/main" id="{23F8A62D-A1EC-38CE-0FE7-E6C6A5278DCF}"/>
              </a:ext>
            </a:extLst>
          </p:cNvPr>
          <p:cNvSpPr/>
          <p:nvPr/>
        </p:nvSpPr>
        <p:spPr>
          <a:xfrm>
            <a:off x="6035515" y="4160256"/>
            <a:ext cx="182880" cy="182880"/>
          </a:xfrm>
          <a:prstGeom prst="ellipse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1135" name="Oval 1134">
            <a:extLst>
              <a:ext uri="{FF2B5EF4-FFF2-40B4-BE49-F238E27FC236}">
                <a16:creationId xmlns:a16="http://schemas.microsoft.com/office/drawing/2014/main" id="{BEBEA73B-A02A-0FC4-8086-CF2BB69D052A}"/>
              </a:ext>
            </a:extLst>
          </p:cNvPr>
          <p:cNvSpPr/>
          <p:nvPr/>
        </p:nvSpPr>
        <p:spPr>
          <a:xfrm>
            <a:off x="6767035" y="4160256"/>
            <a:ext cx="182880" cy="182880"/>
          </a:xfrm>
          <a:prstGeom prst="ellipse">
            <a:avLst/>
          </a:prstGeom>
          <a:solidFill>
            <a:schemeClr val="accent4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1137" name="Oval 1136">
            <a:extLst>
              <a:ext uri="{FF2B5EF4-FFF2-40B4-BE49-F238E27FC236}">
                <a16:creationId xmlns:a16="http://schemas.microsoft.com/office/drawing/2014/main" id="{A7107C54-63ED-6A68-636D-6A3A93227A5B}"/>
              </a:ext>
            </a:extLst>
          </p:cNvPr>
          <p:cNvSpPr/>
          <p:nvPr/>
        </p:nvSpPr>
        <p:spPr>
          <a:xfrm>
            <a:off x="5989795" y="4541595"/>
            <a:ext cx="274320" cy="18288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>
                <a:solidFill>
                  <a:schemeClr val="tx2"/>
                </a:solidFill>
              </a:rPr>
              <a:t>-1</a:t>
            </a:r>
          </a:p>
        </p:txBody>
      </p: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138A9353-A826-9C78-EB18-39A164870FF4}"/>
              </a:ext>
            </a:extLst>
          </p:cNvPr>
          <p:cNvCxnSpPr>
            <a:cxnSpLocks/>
            <a:stCxn id="1137" idx="0"/>
            <a:endCxn id="1134" idx="4"/>
          </p:cNvCxnSpPr>
          <p:nvPr/>
        </p:nvCxnSpPr>
        <p:spPr>
          <a:xfrm flipV="1">
            <a:off x="6126955" y="4343136"/>
            <a:ext cx="0" cy="198459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Elbow Connector 1138">
            <a:extLst>
              <a:ext uri="{FF2B5EF4-FFF2-40B4-BE49-F238E27FC236}">
                <a16:creationId xmlns:a16="http://schemas.microsoft.com/office/drawing/2014/main" id="{833FCD95-8A2D-8D5E-B660-D2E1BE2FE58F}"/>
              </a:ext>
            </a:extLst>
          </p:cNvPr>
          <p:cNvCxnSpPr>
            <a:cxnSpLocks/>
            <a:stCxn id="1126" idx="0"/>
          </p:cNvCxnSpPr>
          <p:nvPr/>
        </p:nvCxnSpPr>
        <p:spPr>
          <a:xfrm rot="16200000" flipV="1">
            <a:off x="5294715" y="4450964"/>
            <a:ext cx="230396" cy="349881"/>
          </a:xfrm>
          <a:prstGeom prst="bentConnector2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Elbow Connector 1139">
            <a:extLst>
              <a:ext uri="{FF2B5EF4-FFF2-40B4-BE49-F238E27FC236}">
                <a16:creationId xmlns:a16="http://schemas.microsoft.com/office/drawing/2014/main" id="{34653000-913B-8115-CA3B-529215E9325F}"/>
              </a:ext>
            </a:extLst>
          </p:cNvPr>
          <p:cNvCxnSpPr>
            <a:cxnSpLocks/>
            <a:endCxn id="1132" idx="2"/>
          </p:cNvCxnSpPr>
          <p:nvPr/>
        </p:nvCxnSpPr>
        <p:spPr>
          <a:xfrm flipV="1">
            <a:off x="6126955" y="4632647"/>
            <a:ext cx="640080" cy="225355"/>
          </a:xfrm>
          <a:prstGeom prst="bentConnector3">
            <a:avLst>
              <a:gd name="adj1" fmla="val 67196"/>
            </a:avLst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Arrow Connector 1141">
            <a:extLst>
              <a:ext uri="{FF2B5EF4-FFF2-40B4-BE49-F238E27FC236}">
                <a16:creationId xmlns:a16="http://schemas.microsoft.com/office/drawing/2014/main" id="{2851C15C-3AD0-024C-B394-251FC1D654F8}"/>
              </a:ext>
            </a:extLst>
          </p:cNvPr>
          <p:cNvCxnSpPr>
            <a:cxnSpLocks/>
            <a:stCxn id="1132" idx="0"/>
            <a:endCxn id="1135" idx="4"/>
          </p:cNvCxnSpPr>
          <p:nvPr/>
        </p:nvCxnSpPr>
        <p:spPr>
          <a:xfrm flipV="1">
            <a:off x="6858475" y="4343136"/>
            <a:ext cx="0" cy="19807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Arrow Connector 1142">
            <a:extLst>
              <a:ext uri="{FF2B5EF4-FFF2-40B4-BE49-F238E27FC236}">
                <a16:creationId xmlns:a16="http://schemas.microsoft.com/office/drawing/2014/main" id="{51469E34-3A56-7865-5F68-85F76B4BE65F}"/>
              </a:ext>
            </a:extLst>
          </p:cNvPr>
          <p:cNvCxnSpPr>
            <a:cxnSpLocks/>
          </p:cNvCxnSpPr>
          <p:nvPr/>
        </p:nvCxnSpPr>
        <p:spPr>
          <a:xfrm>
            <a:off x="6949915" y="4251696"/>
            <a:ext cx="679377" cy="0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Arrow Connector 1143">
            <a:extLst>
              <a:ext uri="{FF2B5EF4-FFF2-40B4-BE49-F238E27FC236}">
                <a16:creationId xmlns:a16="http://schemas.microsoft.com/office/drawing/2014/main" id="{A3DA8B5A-5C64-6907-EFBA-4E75DF320CA7}"/>
              </a:ext>
            </a:extLst>
          </p:cNvPr>
          <p:cNvCxnSpPr>
            <a:cxnSpLocks/>
          </p:cNvCxnSpPr>
          <p:nvPr/>
        </p:nvCxnSpPr>
        <p:spPr>
          <a:xfrm flipV="1">
            <a:off x="13290017" y="2057913"/>
            <a:ext cx="0" cy="499839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>
            <a:extLst>
              <a:ext uri="{FF2B5EF4-FFF2-40B4-BE49-F238E27FC236}">
                <a16:creationId xmlns:a16="http://schemas.microsoft.com/office/drawing/2014/main" id="{76F6FE40-A496-BA38-E1B1-28C59EDCAAF2}"/>
              </a:ext>
            </a:extLst>
          </p:cNvPr>
          <p:cNvCxnSpPr>
            <a:cxnSpLocks/>
            <a:endCxn id="1134" idx="2"/>
          </p:cNvCxnSpPr>
          <p:nvPr/>
        </p:nvCxnSpPr>
        <p:spPr>
          <a:xfrm>
            <a:off x="4718683" y="4251696"/>
            <a:ext cx="131683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1146">
            <a:extLst>
              <a:ext uri="{FF2B5EF4-FFF2-40B4-BE49-F238E27FC236}">
                <a16:creationId xmlns:a16="http://schemas.microsoft.com/office/drawing/2014/main" id="{2CCB516C-3FDD-4E1B-90D6-256BA59C242A}"/>
              </a:ext>
            </a:extLst>
          </p:cNvPr>
          <p:cNvCxnSpPr>
            <a:stCxn id="1130" idx="0"/>
          </p:cNvCxnSpPr>
          <p:nvPr/>
        </p:nvCxnSpPr>
        <p:spPr>
          <a:xfrm flipV="1">
            <a:off x="5143531" y="4251696"/>
            <a:ext cx="0" cy="16757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1147">
            <a:extLst>
              <a:ext uri="{FF2B5EF4-FFF2-40B4-BE49-F238E27FC236}">
                <a16:creationId xmlns:a16="http://schemas.microsoft.com/office/drawing/2014/main" id="{D03F3DB6-D6C0-B263-930E-AEFED06F18F6}"/>
              </a:ext>
            </a:extLst>
          </p:cNvPr>
          <p:cNvCxnSpPr>
            <a:cxnSpLocks/>
            <a:stCxn id="1126" idx="2"/>
          </p:cNvCxnSpPr>
          <p:nvPr/>
        </p:nvCxnSpPr>
        <p:spPr>
          <a:xfrm>
            <a:off x="5584853" y="4923983"/>
            <a:ext cx="0" cy="310816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1148">
            <a:extLst>
              <a:ext uri="{FF2B5EF4-FFF2-40B4-BE49-F238E27FC236}">
                <a16:creationId xmlns:a16="http://schemas.microsoft.com/office/drawing/2014/main" id="{047BCA67-DC15-F2D2-0814-A76DF2CBF924}"/>
              </a:ext>
            </a:extLst>
          </p:cNvPr>
          <p:cNvCxnSpPr>
            <a:cxnSpLocks/>
            <a:stCxn id="1127" idx="2"/>
          </p:cNvCxnSpPr>
          <p:nvPr/>
        </p:nvCxnSpPr>
        <p:spPr>
          <a:xfrm>
            <a:off x="6126955" y="5106863"/>
            <a:ext cx="0" cy="127936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>
            <a:extLst>
              <a:ext uri="{FF2B5EF4-FFF2-40B4-BE49-F238E27FC236}">
                <a16:creationId xmlns:a16="http://schemas.microsoft.com/office/drawing/2014/main" id="{3DE8C9F3-8512-DA3C-1E5C-616CDB7F4159}"/>
              </a:ext>
            </a:extLst>
          </p:cNvPr>
          <p:cNvCxnSpPr>
            <a:cxnSpLocks/>
            <a:stCxn id="1127" idx="0"/>
            <a:endCxn id="1137" idx="4"/>
          </p:cNvCxnSpPr>
          <p:nvPr/>
        </p:nvCxnSpPr>
        <p:spPr>
          <a:xfrm flipV="1">
            <a:off x="6126955" y="4724475"/>
            <a:ext cx="0" cy="199508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1150">
            <a:extLst>
              <a:ext uri="{FF2B5EF4-FFF2-40B4-BE49-F238E27FC236}">
                <a16:creationId xmlns:a16="http://schemas.microsoft.com/office/drawing/2014/main" id="{C8074830-5F7A-C56C-1FAD-699A4193A42E}"/>
              </a:ext>
            </a:extLst>
          </p:cNvPr>
          <p:cNvCxnSpPr>
            <a:stCxn id="1134" idx="6"/>
            <a:endCxn id="1135" idx="2"/>
          </p:cNvCxnSpPr>
          <p:nvPr/>
        </p:nvCxnSpPr>
        <p:spPr>
          <a:xfrm>
            <a:off x="6218395" y="4251696"/>
            <a:ext cx="54864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Elbow Connector 1151">
            <a:extLst>
              <a:ext uri="{FF2B5EF4-FFF2-40B4-BE49-F238E27FC236}">
                <a16:creationId xmlns:a16="http://schemas.microsoft.com/office/drawing/2014/main" id="{5E6ADC3A-A477-B87B-10A8-6CB02B56331D}"/>
              </a:ext>
            </a:extLst>
          </p:cNvPr>
          <p:cNvCxnSpPr>
            <a:endCxn id="1129" idx="2"/>
          </p:cNvCxnSpPr>
          <p:nvPr/>
        </p:nvCxnSpPr>
        <p:spPr>
          <a:xfrm flipV="1">
            <a:off x="5143531" y="5106863"/>
            <a:ext cx="1714944" cy="127936"/>
          </a:xfrm>
          <a:prstGeom prst="bentConnector2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1152">
            <a:extLst>
              <a:ext uri="{FF2B5EF4-FFF2-40B4-BE49-F238E27FC236}">
                <a16:creationId xmlns:a16="http://schemas.microsoft.com/office/drawing/2014/main" id="{6CDCE381-A70F-3909-82EA-E9051D073B51}"/>
              </a:ext>
            </a:extLst>
          </p:cNvPr>
          <p:cNvCxnSpPr>
            <a:stCxn id="1129" idx="0"/>
            <a:endCxn id="1132" idx="4"/>
          </p:cNvCxnSpPr>
          <p:nvPr/>
        </p:nvCxnSpPr>
        <p:spPr>
          <a:xfrm flipV="1">
            <a:off x="6858475" y="4724087"/>
            <a:ext cx="0" cy="199896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Rounded Rectangle 1154">
            <a:extLst>
              <a:ext uri="{FF2B5EF4-FFF2-40B4-BE49-F238E27FC236}">
                <a16:creationId xmlns:a16="http://schemas.microsoft.com/office/drawing/2014/main" id="{8703E4E1-7A86-B429-9E63-71B3C2611B8B}"/>
              </a:ext>
            </a:extLst>
          </p:cNvPr>
          <p:cNvSpPr/>
          <p:nvPr/>
        </p:nvSpPr>
        <p:spPr>
          <a:xfrm>
            <a:off x="4980658" y="4122320"/>
            <a:ext cx="837496" cy="1046165"/>
          </a:xfrm>
          <a:prstGeom prst="roundRect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" name="Rounded Rectangle 1156">
            <a:extLst>
              <a:ext uri="{FF2B5EF4-FFF2-40B4-BE49-F238E27FC236}">
                <a16:creationId xmlns:a16="http://schemas.microsoft.com/office/drawing/2014/main" id="{DE94C184-018F-73F3-A596-A7FAEE8C802B}"/>
              </a:ext>
            </a:extLst>
          </p:cNvPr>
          <p:cNvSpPr/>
          <p:nvPr/>
        </p:nvSpPr>
        <p:spPr>
          <a:xfrm>
            <a:off x="5873282" y="4122321"/>
            <a:ext cx="527256" cy="1046166"/>
          </a:xfrm>
          <a:prstGeom prst="roundRect">
            <a:avLst/>
          </a:prstGeom>
          <a:noFill/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854C873D-C837-04C1-7F91-C30BEBE97A73}"/>
              </a:ext>
            </a:extLst>
          </p:cNvPr>
          <p:cNvCxnSpPr>
            <a:cxnSpLocks/>
            <a:endCxn id="1130" idx="4"/>
          </p:cNvCxnSpPr>
          <p:nvPr/>
        </p:nvCxnSpPr>
        <p:spPr>
          <a:xfrm flipV="1">
            <a:off x="5143531" y="4602146"/>
            <a:ext cx="0" cy="87715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Connector 1165">
            <a:extLst>
              <a:ext uri="{FF2B5EF4-FFF2-40B4-BE49-F238E27FC236}">
                <a16:creationId xmlns:a16="http://schemas.microsoft.com/office/drawing/2014/main" id="{161CFE80-4E2F-75B3-F17E-E0C8023EEF51}"/>
              </a:ext>
            </a:extLst>
          </p:cNvPr>
          <p:cNvCxnSpPr>
            <a:cxnSpLocks/>
            <a:stCxn id="1061" idx="2"/>
          </p:cNvCxnSpPr>
          <p:nvPr/>
        </p:nvCxnSpPr>
        <p:spPr>
          <a:xfrm>
            <a:off x="2289155" y="5130424"/>
            <a:ext cx="0" cy="14424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Connector 1171">
            <a:extLst>
              <a:ext uri="{FF2B5EF4-FFF2-40B4-BE49-F238E27FC236}">
                <a16:creationId xmlns:a16="http://schemas.microsoft.com/office/drawing/2014/main" id="{A1A42BB7-98E1-210C-F1EB-B5F8FCFC015F}"/>
              </a:ext>
            </a:extLst>
          </p:cNvPr>
          <p:cNvCxnSpPr>
            <a:cxnSpLocks/>
            <a:stCxn id="1062" idx="2"/>
          </p:cNvCxnSpPr>
          <p:nvPr/>
        </p:nvCxnSpPr>
        <p:spPr>
          <a:xfrm>
            <a:off x="1763575" y="5130424"/>
            <a:ext cx="0" cy="14424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Connector 1175">
            <a:extLst>
              <a:ext uri="{FF2B5EF4-FFF2-40B4-BE49-F238E27FC236}">
                <a16:creationId xmlns:a16="http://schemas.microsoft.com/office/drawing/2014/main" id="{9925E499-1653-F3CD-698C-3620323E51D2}"/>
              </a:ext>
            </a:extLst>
          </p:cNvPr>
          <p:cNvCxnSpPr>
            <a:cxnSpLocks/>
            <a:stCxn id="1060" idx="2"/>
          </p:cNvCxnSpPr>
          <p:nvPr/>
        </p:nvCxnSpPr>
        <p:spPr>
          <a:xfrm>
            <a:off x="1237995" y="5130424"/>
            <a:ext cx="0" cy="14424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Elbow Connector 1186">
            <a:extLst>
              <a:ext uri="{FF2B5EF4-FFF2-40B4-BE49-F238E27FC236}">
                <a16:creationId xmlns:a16="http://schemas.microsoft.com/office/drawing/2014/main" id="{0022C370-574D-2B52-17D2-7650C87782CD}"/>
              </a:ext>
            </a:extLst>
          </p:cNvPr>
          <p:cNvCxnSpPr>
            <a:cxnSpLocks/>
            <a:endCxn id="1063" idx="2"/>
          </p:cNvCxnSpPr>
          <p:nvPr/>
        </p:nvCxnSpPr>
        <p:spPr>
          <a:xfrm flipV="1">
            <a:off x="779993" y="5130424"/>
            <a:ext cx="2034742" cy="139665"/>
          </a:xfrm>
          <a:prstGeom prst="bentConnector2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1193">
            <a:extLst>
              <a:ext uri="{FF2B5EF4-FFF2-40B4-BE49-F238E27FC236}">
                <a16:creationId xmlns:a16="http://schemas.microsoft.com/office/drawing/2014/main" id="{666E7A64-CEF2-77FD-5B9B-FF547404D836}"/>
              </a:ext>
            </a:extLst>
          </p:cNvPr>
          <p:cNvCxnSpPr>
            <a:cxnSpLocks/>
            <a:stCxn id="1064" idx="0"/>
          </p:cNvCxnSpPr>
          <p:nvPr/>
        </p:nvCxnSpPr>
        <p:spPr>
          <a:xfrm flipV="1">
            <a:off x="2814735" y="4211225"/>
            <a:ext cx="0" cy="9623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Straight Connector 1197">
            <a:extLst>
              <a:ext uri="{FF2B5EF4-FFF2-40B4-BE49-F238E27FC236}">
                <a16:creationId xmlns:a16="http://schemas.microsoft.com/office/drawing/2014/main" id="{919BF4D9-7AAA-FB7F-7515-6E7A5CDDAD20}"/>
              </a:ext>
            </a:extLst>
          </p:cNvPr>
          <p:cNvCxnSpPr>
            <a:cxnSpLocks/>
            <a:stCxn id="1069" idx="2"/>
          </p:cNvCxnSpPr>
          <p:nvPr/>
        </p:nvCxnSpPr>
        <p:spPr>
          <a:xfrm flipH="1">
            <a:off x="779993" y="4206426"/>
            <a:ext cx="36656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>
            <a:extLst>
              <a:ext uri="{FF2B5EF4-FFF2-40B4-BE49-F238E27FC236}">
                <a16:creationId xmlns:a16="http://schemas.microsoft.com/office/drawing/2014/main" id="{1231E6FE-35AE-EDC1-9A04-C800731F5961}"/>
              </a:ext>
            </a:extLst>
          </p:cNvPr>
          <p:cNvCxnSpPr>
            <a:cxnSpLocks/>
            <a:stCxn id="1069" idx="6"/>
            <a:endCxn id="1068" idx="2"/>
          </p:cNvCxnSpPr>
          <p:nvPr/>
        </p:nvCxnSpPr>
        <p:spPr>
          <a:xfrm>
            <a:off x="1329435" y="4206426"/>
            <a:ext cx="8682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9248599-DFC6-6883-B04E-2E77DD9FD64D}"/>
              </a:ext>
            </a:extLst>
          </p:cNvPr>
          <p:cNvSpPr txBox="1">
            <a:spLocks/>
          </p:cNvSpPr>
          <p:nvPr/>
        </p:nvSpPr>
        <p:spPr>
          <a:xfrm>
            <a:off x="457200" y="6356350"/>
            <a:ext cx="8153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9BE3E-62CF-1255-DB6C-76D53CF3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E6ED-6CB8-907A-D445-DCD22B03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Hyperparameter Tuning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C770E-D5ED-1698-568B-05358CF1F7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240B8-D684-E805-7103-4F39A42BC7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0C4B01C-08CD-CE2D-C3B4-7A7817AF8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01374"/>
              </p:ext>
            </p:extLst>
          </p:nvPr>
        </p:nvGraphicFramePr>
        <p:xfrm>
          <a:off x="111375" y="1468514"/>
          <a:ext cx="11969249" cy="4285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362">
                  <a:extLst>
                    <a:ext uri="{9D8B030D-6E8A-4147-A177-3AD203B41FA5}">
                      <a16:colId xmlns:a16="http://schemas.microsoft.com/office/drawing/2014/main" val="3580112359"/>
                    </a:ext>
                  </a:extLst>
                </a:gridCol>
                <a:gridCol w="3698629">
                  <a:extLst>
                    <a:ext uri="{9D8B030D-6E8A-4147-A177-3AD203B41FA5}">
                      <a16:colId xmlns:a16="http://schemas.microsoft.com/office/drawing/2014/main" val="3373769243"/>
                    </a:ext>
                  </a:extLst>
                </a:gridCol>
                <a:gridCol w="3698629">
                  <a:extLst>
                    <a:ext uri="{9D8B030D-6E8A-4147-A177-3AD203B41FA5}">
                      <a16:colId xmlns:a16="http://schemas.microsoft.com/office/drawing/2014/main" val="842316655"/>
                    </a:ext>
                  </a:extLst>
                </a:gridCol>
                <a:gridCol w="3698629">
                  <a:extLst>
                    <a:ext uri="{9D8B030D-6E8A-4147-A177-3AD203B41FA5}">
                      <a16:colId xmlns:a16="http://schemas.microsoft.com/office/drawing/2014/main" val="107286350"/>
                    </a:ext>
                  </a:extLst>
                </a:gridCol>
              </a:tblGrid>
              <a:tr h="862457"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Grid Search CV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Random Search CV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Bayesian Optimization (BO) CV + Early Stopping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10792"/>
                  </a:ext>
                </a:extLst>
              </a:tr>
              <a:tr h="862457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Notes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Inefficient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 for large, high dimensional search spaces</a:t>
                      </a:r>
                    </a:p>
                    <a:p>
                      <a:pPr marL="285750" indent="-285750" algn="l">
                        <a:buFont typeface="Wingdings" pitchFamily="2" charset="2"/>
                        <a:buChar char="q"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Iteratively develop accurate search ranges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for future BO 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on SVR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Inefficient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 for large, high-dimensional search spaces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Iteratively develop accurate search ranges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for future BO 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on boosted models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Tree-structured </a:t>
                      </a:r>
                      <a:r>
                        <a:rPr lang="en-US" sz="1800" b="1" dirty="0" err="1">
                          <a:solidFill>
                            <a:schemeClr val="tx2"/>
                          </a:solidFill>
                        </a:rPr>
                        <a:t>Parzen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 Estimator (TPE) as sampler</a:t>
                      </a:r>
                    </a:p>
                    <a:p>
                      <a:pPr marL="285750" lvl="0" indent="-285750" algn="l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Supports many types of spaces</a:t>
                      </a:r>
                    </a:p>
                    <a:p>
                      <a:pPr marL="285750" lvl="0" indent="-285750" algn="l">
                        <a:buFont typeface="Wingdings" pitchFamily="2" charset="2"/>
                        <a:buChar char="q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Non-parametric &amp; 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directly models 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good / bad regions</a:t>
                      </a:r>
                    </a:p>
                    <a:p>
                      <a:pPr marL="285750" lvl="0" indent="-285750" algn="l">
                        <a:buFont typeface="Wingdings" pitchFamily="2" charset="2"/>
                        <a:buChar char="q"/>
                      </a:pPr>
                      <a:endParaRPr lang="en-US" sz="1800" dirty="0">
                        <a:solidFill>
                          <a:schemeClr val="tx2"/>
                        </a:solidFill>
                      </a:endParaRPr>
                    </a:p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Hyperband as pruner</a:t>
                      </a:r>
                    </a:p>
                    <a:p>
                      <a:pPr marL="285750" lvl="0" indent="-285750" algn="l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Reduces runtime drastically</a:t>
                      </a:r>
                    </a:p>
                    <a:p>
                      <a:pPr marL="285750" lvl="0" indent="-285750" algn="l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Reduces wasteful trials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73333"/>
                  </a:ext>
                </a:extLst>
              </a:tr>
              <a:tr h="862457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>
                          <a:solidFill>
                            <a:schemeClr val="tx2"/>
                          </a:solidFill>
                        </a:rPr>
                        <a:t>Models Tuned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i="0">
                          <a:solidFill>
                            <a:schemeClr val="tx2"/>
                          </a:solidFill>
                        </a:rPr>
                        <a:t>SVR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XGBoost, LGBM, CatBoost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SVR, </a:t>
                      </a:r>
                      <a:r>
                        <a:rPr lang="en-US" sz="1800" b="0" dirty="0" err="1">
                          <a:solidFill>
                            <a:schemeClr val="tx2"/>
                          </a:solidFill>
                        </a:rPr>
                        <a:t>XGBoost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, LGBM, </a:t>
                      </a:r>
                      <a:r>
                        <a:rPr lang="en-US" sz="1800" b="0" dirty="0" err="1">
                          <a:solidFill>
                            <a:schemeClr val="tx2"/>
                          </a:solidFill>
                        </a:rPr>
                        <a:t>CatBoost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, LSTM, GRU, CNN-LSTM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953618"/>
                  </a:ext>
                </a:extLst>
              </a:tr>
            </a:tbl>
          </a:graphicData>
        </a:graphic>
      </p:graphicFrame>
      <p:cxnSp>
        <p:nvCxnSpPr>
          <p:cNvPr id="1144" name="Straight Arrow Connector 1143">
            <a:extLst>
              <a:ext uri="{FF2B5EF4-FFF2-40B4-BE49-F238E27FC236}">
                <a16:creationId xmlns:a16="http://schemas.microsoft.com/office/drawing/2014/main" id="{37C723D9-E653-89AD-EC7F-D20EB36148CD}"/>
              </a:ext>
            </a:extLst>
          </p:cNvPr>
          <p:cNvCxnSpPr>
            <a:cxnSpLocks/>
          </p:cNvCxnSpPr>
          <p:nvPr/>
        </p:nvCxnSpPr>
        <p:spPr>
          <a:xfrm flipV="1">
            <a:off x="13290017" y="2057913"/>
            <a:ext cx="0" cy="499839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6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E5FD-5DE2-7374-FF08-F864DA8E0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1CA2-2DFB-24EC-66E3-99E33B8B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EB0D2-653A-FEC9-64EE-1468070F2F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/>
              <a:t>Reduced Dataset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Effect of Target Transformations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Model Evaluations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26353-7CDE-213E-AA01-F9E973CABB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4AC79-7ADD-8846-0D59-539BF118442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D7CF-F10F-C130-F9BB-A6DBF111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7B94-CB6D-DD51-6736-41443480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Reduced Dataset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E87FE-6046-E6EB-DFAC-3F17158453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EEB07-B660-8502-67E8-7546B03DFB2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7E3D6A-0E8C-FDAA-58BE-E06AFFA79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901315"/>
              </p:ext>
            </p:extLst>
          </p:nvPr>
        </p:nvGraphicFramePr>
        <p:xfrm>
          <a:off x="127768" y="1854503"/>
          <a:ext cx="11936463" cy="4113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8821">
                  <a:extLst>
                    <a:ext uri="{9D8B030D-6E8A-4147-A177-3AD203B41FA5}">
                      <a16:colId xmlns:a16="http://schemas.microsoft.com/office/drawing/2014/main" val="3373769243"/>
                    </a:ext>
                  </a:extLst>
                </a:gridCol>
                <a:gridCol w="3978821">
                  <a:extLst>
                    <a:ext uri="{9D8B030D-6E8A-4147-A177-3AD203B41FA5}">
                      <a16:colId xmlns:a16="http://schemas.microsoft.com/office/drawing/2014/main" val="842316655"/>
                    </a:ext>
                  </a:extLst>
                </a:gridCol>
                <a:gridCol w="3978821">
                  <a:extLst>
                    <a:ext uri="{9D8B030D-6E8A-4147-A177-3AD203B41FA5}">
                      <a16:colId xmlns:a16="http://schemas.microsoft.com/office/drawing/2014/main" val="2956454142"/>
                    </a:ext>
                  </a:extLst>
                </a:gridCol>
              </a:tblGrid>
              <a:tr h="58767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Covariate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Lags (Hourly)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Units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10792"/>
                  </a:ext>
                </a:extLst>
              </a:tr>
              <a:tr h="5876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24, 31, 37, 41, 43, 45, 47, 48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€ / MWh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73333"/>
                  </a:ext>
                </a:extLst>
              </a:tr>
              <a:tr h="587677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i="0" dirty="0">
                          <a:solidFill>
                            <a:schemeClr val="tx2"/>
                          </a:solidFill>
                        </a:rPr>
                        <a:t>Temperature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24, 28, 33, 40, 46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ºC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953618"/>
                  </a:ext>
                </a:extLst>
              </a:tr>
              <a:tr h="587677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i="0">
                          <a:solidFill>
                            <a:schemeClr val="tx2"/>
                          </a:solidFill>
                        </a:rPr>
                        <a:t>Humidity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29, 36, 48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127586"/>
                  </a:ext>
                </a:extLst>
              </a:tr>
              <a:tr h="587677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i="0">
                          <a:solidFill>
                            <a:schemeClr val="tx2"/>
                          </a:solidFill>
                        </a:rPr>
                        <a:t>Load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24, 28, 30, 34, 36, 42, 48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>
                          <a:solidFill>
                            <a:schemeClr val="tx2"/>
                          </a:solidFill>
                        </a:rPr>
                        <a:t>MW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57404"/>
                  </a:ext>
                </a:extLst>
              </a:tr>
              <a:tr h="587677"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i="0">
                          <a:solidFill>
                            <a:schemeClr val="tx2"/>
                          </a:solidFill>
                        </a:rPr>
                        <a:t>CBET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24, 28, 32, 36, 43, 48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GW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073228"/>
                  </a:ext>
                </a:extLst>
              </a:tr>
              <a:tr h="587677">
                <a:tc gridSpan="3"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 i="0" dirty="0">
                          <a:solidFill>
                            <a:schemeClr val="tx2"/>
                          </a:solidFill>
                        </a:rPr>
                        <a:t>29 total covariates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Font typeface="Wingdings" pitchFamily="2" charset="2"/>
                        <a:buNone/>
                      </a:pPr>
                      <a:endParaRPr lang="en-US" sz="1800" b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endParaRPr lang="en-US" sz="1800" b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119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845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87B2-F53F-0D19-FFF0-D9FF8124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608E-C610-7BCE-0B4B-9F2FCACB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of Target Transformations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4D666-384D-D688-60E9-3093578E1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70125-395B-7B87-9257-EE17D0A5C6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621943-7B2F-D957-5AB3-50E7ACC21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74346"/>
              </p:ext>
            </p:extLst>
          </p:nvPr>
        </p:nvGraphicFramePr>
        <p:xfrm>
          <a:off x="140043" y="2017104"/>
          <a:ext cx="11911914" cy="3788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5957">
                  <a:extLst>
                    <a:ext uri="{9D8B030D-6E8A-4147-A177-3AD203B41FA5}">
                      <a16:colId xmlns:a16="http://schemas.microsoft.com/office/drawing/2014/main" val="3950568823"/>
                    </a:ext>
                  </a:extLst>
                </a:gridCol>
                <a:gridCol w="5955957">
                  <a:extLst>
                    <a:ext uri="{9D8B030D-6E8A-4147-A177-3AD203B41FA5}">
                      <a16:colId xmlns:a16="http://schemas.microsoft.com/office/drawing/2014/main" val="701872888"/>
                    </a:ext>
                  </a:extLst>
                </a:gridCol>
              </a:tblGrid>
              <a:tr h="8624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Min-Max Scaling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>
                          <a:solidFill>
                            <a:schemeClr val="tx2"/>
                          </a:solidFill>
                        </a:rPr>
                        <a:t>Mirror-Logarithm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87030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Reduces effect of high variances 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price periods on model fit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Faster model convergence </a:t>
                      </a: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(especially for complex neural network models)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Stable gradients during neural network training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Explosion of several point transformations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Unsure origin, but likely due to floating point error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</a:rPr>
                        <a:t>Rendered unusable for modeling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974951"/>
                  </a:ext>
                </a:extLst>
              </a:tr>
              <a:tr h="1463040">
                <a:tc gridSpan="2"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Min-Max scaling was chosen as the target transformation method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342900" indent="-342900">
                        <a:buFont typeface="Wingdings" pitchFamily="2" charset="2"/>
                        <a:buChar char="q"/>
                      </a:pPr>
                      <a:endParaRPr lang="en-US" sz="1800" b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461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867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504C-C8D9-6159-1805-2572616D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97FC-9D5E-6874-4DEB-3ED2A003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Model Evaluations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2BEFF-27DC-C8B7-B4EF-171E2E1B16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5AFE4-1BDF-9F0D-FE59-D8AFA7B568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23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609B-D990-38C3-B203-0D11663E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FEE2-D86D-F3CA-91F2-FB8178FC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Bias Evaluations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88F3B-6E59-B836-5FCB-375C20D023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6B4E3-1C71-902D-A9B9-31F14DE2BC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3EFEA3C-7E30-4259-331C-8392D0FAD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396"/>
            <a:ext cx="9457776" cy="4728888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7D79B99-A2C5-B102-16FC-35FFF47DA4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48800" y="1466395"/>
            <a:ext cx="2743200" cy="4728888"/>
          </a:xfrm>
        </p:spPr>
        <p:txBody>
          <a:bodyPr>
            <a:noAutofit/>
          </a:bodyPr>
          <a:lstStyle/>
          <a:p>
            <a:r>
              <a:rPr lang="en-US" sz="1800" b="1" dirty="0"/>
              <a:t>Accumulative bias metrics on test set: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Descending order of average bias: ANNs, SVR, boosting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Similar metric scores among boosted models, with </a:t>
            </a:r>
            <a:r>
              <a:rPr lang="en-US" sz="1800" b="1" dirty="0" err="1"/>
              <a:t>XGBoost</a:t>
            </a:r>
            <a:r>
              <a:rPr lang="en-US" sz="1800" b="1" dirty="0"/>
              <a:t> often showing best </a:t>
            </a:r>
            <a:r>
              <a:rPr lang="en-US" sz="1800" dirty="0"/>
              <a:t>performance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Sections of high price volatility </a:t>
            </a:r>
            <a:r>
              <a:rPr lang="en-US" sz="1800" dirty="0"/>
              <a:t>causing spikes in bias over time across all models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Volatility spikes are higher for ANNs</a:t>
            </a:r>
          </a:p>
        </p:txBody>
      </p:sp>
    </p:spTree>
    <p:extLst>
      <p:ext uri="{BB962C8B-B14F-4D97-AF65-F5344CB8AC3E}">
        <p14:creationId xmlns:p14="http://schemas.microsoft.com/office/powerpoint/2010/main" val="4171298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C3D9-5720-5849-0994-FDAB4CD6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715E-966E-0300-E8F1-831E297B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Variance Evaluations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874A-4A28-AAE2-AB39-4CD840E6A0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C6B6E-D088-72C6-2DBF-B74131FEC7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B4829B-D5AE-BA29-C285-43BCC1F4F2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93335" y="1466395"/>
            <a:ext cx="5098666" cy="4728888"/>
          </a:xfrm>
        </p:spPr>
        <p:txBody>
          <a:bodyPr>
            <a:noAutofit/>
          </a:bodyPr>
          <a:lstStyle/>
          <a:p>
            <a:r>
              <a:rPr lang="en-US" sz="1800" b="1" dirty="0"/>
              <a:t>Overall variance metrics on test set: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 err="1"/>
              <a:t>XGBoost</a:t>
            </a:r>
            <a:r>
              <a:rPr lang="en-US" sz="1800" b="1" dirty="0"/>
              <a:t> has best R</a:t>
            </a:r>
            <a:r>
              <a:rPr lang="en-US" sz="1800" b="1" baseline="30000" dirty="0"/>
              <a:t>2</a:t>
            </a:r>
            <a:r>
              <a:rPr lang="en-US" sz="1800" dirty="0"/>
              <a:t>, although comparable to other boosted models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SVR</a:t>
            </a:r>
            <a:r>
              <a:rPr lang="en-US" sz="1800" dirty="0"/>
              <a:t> accounts for most variance in </a:t>
            </a:r>
            <a:r>
              <a:rPr lang="en-US" sz="1800" b="1" dirty="0"/>
              <a:t>all metrics other than R</a:t>
            </a:r>
            <a:r>
              <a:rPr lang="en-US" sz="1800" b="1" baseline="30000" dirty="0"/>
              <a:t>2</a:t>
            </a:r>
            <a:r>
              <a:rPr lang="en-US" sz="1800" dirty="0"/>
              <a:t> by far</a:t>
            </a:r>
            <a:endParaRPr lang="en-US" sz="1800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Both </a:t>
            </a:r>
            <a:r>
              <a:rPr lang="en-US" sz="1800" b="1" dirty="0"/>
              <a:t>SVR and boosted models </a:t>
            </a:r>
            <a:r>
              <a:rPr lang="en-US" sz="1800" dirty="0"/>
              <a:t>tend to </a:t>
            </a:r>
            <a:r>
              <a:rPr lang="en-US" sz="1800" b="1" dirty="0"/>
              <a:t>follow inherent variance structure</a:t>
            </a:r>
            <a:r>
              <a:rPr lang="en-US" sz="1800" dirty="0"/>
              <a:t> moderately well in the test set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b="1" dirty="0"/>
              <a:t>ANN models </a:t>
            </a:r>
            <a:r>
              <a:rPr lang="en-US" sz="1800" dirty="0"/>
              <a:t>capture least amount of variance structure in the test set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800" dirty="0"/>
          </a:p>
          <a:p>
            <a:r>
              <a:rPr lang="en-US" sz="1800" b="1" dirty="0"/>
              <a:t>Deep learning models tend to underestimate spikes in price, causing them to lose predictive power during volatile periods.</a:t>
            </a:r>
          </a:p>
        </p:txBody>
      </p:sp>
      <p:pic>
        <p:nvPicPr>
          <p:cNvPr id="10" name="Picture 9" descr="A group of colorful bars&#10;&#10;AI-generated content may be incorrect.">
            <a:extLst>
              <a:ext uri="{FF2B5EF4-FFF2-40B4-BE49-F238E27FC236}">
                <a16:creationId xmlns:a16="http://schemas.microsoft.com/office/drawing/2014/main" id="{F6ADD230-00E0-2865-951E-6AE78CE9C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395"/>
            <a:ext cx="7093334" cy="472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05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6AF2A-7CE9-FECF-AAC6-634C2EB9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2FDF-3F51-950F-F731-95918C3A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E863-CB1A-8A2C-9AB6-2C68F469DC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/>
              <a:t>Strengths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Limitations</a:t>
            </a:r>
          </a:p>
          <a:p>
            <a:pPr marL="514350" indent="-514350">
              <a:buFont typeface="+mj-lt"/>
              <a:buAutoNum type="romanLcPeriod"/>
            </a:pPr>
            <a:r>
              <a:rPr lang="en-US"/>
              <a:t>Future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0FEF-CE8D-202E-9FDA-3980CEEADB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2DAD1-426E-B05E-592C-9F473447D0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08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61DA-5A35-DA5A-B4B2-5126D401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9780-104A-8A3A-08E5-6B52721B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</a:t>
            </a:r>
            <a:r>
              <a:rPr lang="en-US" baseline="0"/>
              <a:t>trengths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EA67E-2467-F980-A594-E6EF5ECB33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Well-Designed Data Pipeline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Applied consistent preprocessing, including mirror-log transformation and Min–Max normalization, reducing volatility and stabilize model training.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Structured Feature Engineering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Source Sans Pro"/>
              </a:rPr>
              <a:t>Applied systematic feature selection using LGBM to eliminate redundant inputs and streamline the modeling dataset.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Source Sans Pro"/>
              </a:rPr>
              <a:t>Verified that all engineered features adhered to the day-ahead auction timing (no look-ahead leakage).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Robust and Fair Model Comparison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Used rolling-window evaluation to simulate real forecasting conditions and reduce overfitting.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  <a:ea typeface="Source Sans Pro"/>
              </a:rPr>
              <a:t>Evaluated seven distinct modeling approaches under the same preprocessing and validation framework.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57703-9900-C518-6400-2B19E74C1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2B738-2919-F1BC-0495-E992643FA4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97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2EB5-0821-B18A-A257-7C51233A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2549-BCB3-BF32-FA4D-6D902002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324CA-AF5B-DBB3-08B3-DBD1DE9B16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Limited Covariates: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Dataset includes only weather variables, grid load, and cross-border flows (CBET)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Modeling Limitations: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Limited hyperparameter optimization for deep networks due to time and compute constraints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Feature Engineering Limitations: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Lag features capture short term patterns but miss long-range structure (lack of weekly, monthly, yearly seasonality)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Evaluation &amp; Validation Limitations: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Rolling validation depth is limited, validation folds do not span all major structural changes (COVID, energy crisis, Russia-Ukraine conflict)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Lack of regime-specific evaluation, models are not separately evaluated under normal, volatile, and extreme-price conditions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A4E8D-15FE-5C8B-A1A2-E34013D34C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81A72-7262-5DA5-BCD0-0320387B5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34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CD95-990C-A893-8D95-63A2AD8D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993-B771-D00C-AA58-AB58B3C8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aseline="0"/>
              <a:t>Future Work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BCA11-0BC3-8097-C2F0-E5294578EA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Broaden Covariates: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Add fuel prices, CO</a:t>
            </a:r>
            <a:r>
              <a:rPr lang="en-US" sz="1800" baseline="-25000" dirty="0">
                <a:solidFill>
                  <a:schemeClr val="tx2"/>
                </a:solidFill>
              </a:rPr>
              <a:t>2 </a:t>
            </a:r>
            <a:r>
              <a:rPr lang="en-US" sz="1800" dirty="0">
                <a:solidFill>
                  <a:schemeClr val="tx2"/>
                </a:solidFill>
              </a:rPr>
              <a:t>prices, average solar radiation, and wind speed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Include market sentiment or macroeconomic indicators that affect energy demand</a:t>
            </a:r>
            <a:endParaRPr lang="en-US" sz="1800" b="1" dirty="0">
              <a:solidFill>
                <a:schemeClr val="tx2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Adopt More Advanced Temporal Models: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Explore Transformer-Based Architectures (e.g., Informer, Temporal Fusion transformer)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Explore multi-resolution models combining hourly, daily, weekly and seasonal patterns</a:t>
            </a:r>
            <a:endParaRPr lang="en-US" sz="1800" b="1" dirty="0">
              <a:solidFill>
                <a:schemeClr val="tx2"/>
              </a:solidFill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Enhance Data Transformations: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Use dynamic scaling windows (e.g., rolling normalization) to reduce distribution shifts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Model price differences or returns rather than absolute prices to reduce non-stationary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1800" b="1" dirty="0"/>
              <a:t>Incorporate Signal Processing: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Include signal decomposition techniques (e.g., Empirical Mode Decomposition, Variational Mode Decomposition) into the data processing pipeline</a:t>
            </a:r>
          </a:p>
          <a:p>
            <a:pPr marL="1028700" lvl="1" indent="-342900">
              <a:buFont typeface="Wingdings" pitchFamily="2" charset="2"/>
              <a:buChar char="q"/>
            </a:pPr>
            <a:r>
              <a:rPr lang="en-US" sz="1800" dirty="0">
                <a:solidFill>
                  <a:schemeClr val="tx2"/>
                </a:solidFill>
              </a:rPr>
              <a:t>Forecast decomposed signals separately and recombine to produce the final forecast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56721-34E1-BC63-A095-B474ED9A8C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DBAF0-4D69-0BFD-F1DD-0D288F83DD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46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8DE24-8109-282C-7A37-C1484529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4E12-8D03-6B7E-1627-1BE6FDDE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DD950-4B46-EE93-6124-ED840F922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CA874-5BA3-E002-C38D-BAFFA9DF219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E577B7-693E-A4AE-6602-C3EFCB249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61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52548-A9F3-F016-5361-075F0FBC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346B-3656-B926-6882-77196C9E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BC208-C914-AB6C-53DF-20A00152EB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1050"/>
              <a:t>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5E2A4-7F32-711B-EFC2-25002224714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5" name="Picture 1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92D36C56-DC50-4129-B0D5-4010BD28E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395"/>
            <a:ext cx="9456434" cy="4728217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7C40533-EC1E-4C2B-9074-2D3ECFE15B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48800" y="1494693"/>
            <a:ext cx="2743200" cy="4421366"/>
          </a:xfrm>
        </p:spPr>
        <p:txBody>
          <a:bodyPr>
            <a:noAutofit/>
          </a:bodyPr>
          <a:lstStyle/>
          <a:p>
            <a:r>
              <a:rPr lang="en-US" sz="1800" b="1" dirty="0"/>
              <a:t>Hourly: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No strong differences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Slightly higher prices in evening time</a:t>
            </a:r>
          </a:p>
          <a:p>
            <a:endParaRPr lang="en-US" sz="400" dirty="0"/>
          </a:p>
          <a:p>
            <a:r>
              <a:rPr lang="en-US" sz="1800" b="1" dirty="0"/>
              <a:t>Daily: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Little to no difference in price distribution</a:t>
            </a:r>
          </a:p>
          <a:p>
            <a:endParaRPr lang="en-US" sz="3000" dirty="0"/>
          </a:p>
          <a:p>
            <a:r>
              <a:rPr lang="en-US" sz="1800" b="1" dirty="0"/>
              <a:t>Monthly: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Small differences in distribution by month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1800" dirty="0"/>
              <a:t>Greatest variability in Summer &amp; Winter</a:t>
            </a:r>
          </a:p>
        </p:txBody>
      </p:sp>
    </p:spTree>
    <p:extLst>
      <p:ext uri="{BB962C8B-B14F-4D97-AF65-F5344CB8AC3E}">
        <p14:creationId xmlns:p14="http://schemas.microsoft.com/office/powerpoint/2010/main" val="361977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6B76-2DDA-A597-CB80-F14B76B8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>
            <a:extLst>
              <a:ext uri="{FF2B5EF4-FFF2-40B4-BE49-F238E27FC236}">
                <a16:creationId xmlns:a16="http://schemas.microsoft.com/office/drawing/2014/main" id="{84893AC8-9B2D-525A-6778-9A495C5A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r>
              <a:rPr lang="en-US" baseline="0"/>
              <a:t> You!</a:t>
            </a:r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3E2D73F-A2F2-E867-8D5D-8944331664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C86260-4F89-33CE-F6FC-311598BA56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epartment/Unit name Placeholder">
            <a:extLst>
              <a:ext uri="{FF2B5EF4-FFF2-40B4-BE49-F238E27FC236}">
                <a16:creationId xmlns:a16="http://schemas.microsoft.com/office/drawing/2014/main" id="{2AF158A1-2227-AA58-F1B5-B6868D0F4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Machine Learning and Deep Learning Methods for Electricity Day-Ahead Price Forecasting</a:t>
            </a:r>
            <a:r>
              <a:rPr lang="en-US" sz="800"/>
              <a:t> </a:t>
            </a:r>
            <a:endParaRPr lang="en-US"/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035B400-4D9E-BCFE-9EF2-F2AD02BB2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46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98DF-E355-55C9-4FEE-A1B31F08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46064C-7402-E312-C1A1-4AC897AB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8436" y="2932655"/>
            <a:ext cx="5775128" cy="992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06E336-C67D-F07A-1AEC-D360C2CAAE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538831"/>
            <a:ext cx="10515600" cy="1325563"/>
          </a:xfrm>
        </p:spPr>
        <p:txBody>
          <a:bodyPr/>
          <a:lstStyle/>
          <a:p>
            <a:r>
              <a:rPr lang="en-US"/>
              <a:t>Illinois</a:t>
            </a:r>
            <a:r>
              <a:rPr lang="en-US" baseline="0"/>
              <a:t> Blue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39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SMB PPT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B PowerPoint Template V4" id="{B3CBA2D6-773F-894A-97CE-392945FF435E}" vid="{C086EF9A-8907-304D-A9A1-B52FE47F12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2249</Words>
  <Application>Microsoft Macintosh PowerPoint</Application>
  <PresentationFormat>Widescreen</PresentationFormat>
  <Paragraphs>465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Cambria Math</vt:lpstr>
      <vt:lpstr>Courier New</vt:lpstr>
      <vt:lpstr>Source Sans Pro</vt:lpstr>
      <vt:lpstr>Source Sans Pro SemiBold</vt:lpstr>
      <vt:lpstr>Wingdings</vt:lpstr>
      <vt:lpstr>Office Theme</vt:lpstr>
      <vt:lpstr>Machine Learning and Deep Learning Methods for Electricity Day-Ahead Price Forecasting </vt:lpstr>
      <vt:lpstr>Agenda</vt:lpstr>
      <vt:lpstr>Introduction</vt:lpstr>
      <vt:lpstr>Motivation</vt:lpstr>
      <vt:lpstr>Literature Review </vt:lpstr>
      <vt:lpstr>Literature Review</vt:lpstr>
      <vt:lpstr>Data Overview</vt:lpstr>
      <vt:lpstr>Data Overview</vt:lpstr>
      <vt:lpstr>Data Overview</vt:lpstr>
      <vt:lpstr>Approach</vt:lpstr>
      <vt:lpstr>Preprocessing</vt:lpstr>
      <vt:lpstr>Feature Engineering</vt:lpstr>
      <vt:lpstr>Recursive Feature Elimination (RFE)</vt:lpstr>
      <vt:lpstr>Target Transformations</vt:lpstr>
      <vt:lpstr>Train-Validation-Test Split</vt:lpstr>
      <vt:lpstr>Modeling</vt:lpstr>
      <vt:lpstr>Machine Learning Models</vt:lpstr>
      <vt:lpstr>Deep Learning Models</vt:lpstr>
      <vt:lpstr>Hyperparameter Tuning</vt:lpstr>
      <vt:lpstr>Findings</vt:lpstr>
      <vt:lpstr>Reduced Dataset</vt:lpstr>
      <vt:lpstr>Effect of Target Transformations</vt:lpstr>
      <vt:lpstr>Model Evaluations</vt:lpstr>
      <vt:lpstr>Bias Evaluations</vt:lpstr>
      <vt:lpstr>Variance Evaluations</vt:lpstr>
      <vt:lpstr>Discussion</vt:lpstr>
      <vt:lpstr>Strengths</vt:lpstr>
      <vt:lpstr>Limitations</vt:lpstr>
      <vt:lpstr>Future Work</vt:lpstr>
      <vt:lpstr>Appendix</vt:lpstr>
      <vt:lpstr>Data Overview</vt:lpstr>
      <vt:lpstr>Thank You!</vt:lpstr>
      <vt:lpstr>Illinois Blue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Bryan</dc:creator>
  <cp:lastModifiedBy>Leidig, Benjamin Jack</cp:lastModifiedBy>
  <cp:revision>4</cp:revision>
  <dcterms:created xsi:type="dcterms:W3CDTF">2022-06-14T14:37:32Z</dcterms:created>
  <dcterms:modified xsi:type="dcterms:W3CDTF">2025-12-10T23:54:04Z</dcterms:modified>
</cp:coreProperties>
</file>